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f2e341de6a4703" /><Relationship Type="http://schemas.openxmlformats.org/officeDocument/2006/relationships/extended-properties" Target="/docProps/app.xml" Id="R05bac8b97da442db" /><Relationship Type="http://schemas.openxmlformats.org/officeDocument/2006/relationships/officeDocument" Target="/ppt/presentation.xml" Id="Rc1127c7200a34e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a81bc3d32a461e"/>
  </p:sldMasterIdLst>
  <p:notesMasterIdLst>
    <p:notesMasterId xmlns:r="http://schemas.openxmlformats.org/officeDocument/2006/relationships" r:id="R51e5944a6c6246e8"/>
  </p:notesMasterIdLst>
  <p:sldIdLst>
    <p:sldId xmlns:r="http://schemas.openxmlformats.org/officeDocument/2006/relationships" id="256" r:id="R600de8fcef5f47be"/>
    <p:sldId xmlns:r="http://schemas.openxmlformats.org/officeDocument/2006/relationships" id="257" r:id="R809499fa9ce849c7"/>
    <p:sldId xmlns:r="http://schemas.openxmlformats.org/officeDocument/2006/relationships" id="258" r:id="R4eaa5eb900204507"/>
    <p:sldId xmlns:r="http://schemas.openxmlformats.org/officeDocument/2006/relationships" id="259" r:id="R13618b1fcf25426b"/>
    <p:sldId xmlns:r="http://schemas.openxmlformats.org/officeDocument/2006/relationships" id="260" r:id="Rc8b2ac4a5abd46ca"/>
    <p:sldId xmlns:r="http://schemas.openxmlformats.org/officeDocument/2006/relationships" id="261" r:id="R28fa6acc78c24892"/>
    <p:sldId xmlns:r="http://schemas.openxmlformats.org/officeDocument/2006/relationships" id="262" r:id="R77673a62e9db4941"/>
    <p:sldId xmlns:r="http://schemas.openxmlformats.org/officeDocument/2006/relationships" id="263" r:id="Rb9628dc1473b4830"/>
    <p:sldId xmlns:r="http://schemas.openxmlformats.org/officeDocument/2006/relationships" id="264" r:id="R895ebe0c2c3d4892"/>
    <p:sldId xmlns:r="http://schemas.openxmlformats.org/officeDocument/2006/relationships" id="265" r:id="R87e6af1eeb1a4aee"/>
    <p:sldId xmlns:r="http://schemas.openxmlformats.org/officeDocument/2006/relationships" id="266" r:id="R1da0940a5a804c48"/>
    <p:sldId xmlns:r="http://schemas.openxmlformats.org/officeDocument/2006/relationships" id="267" r:id="R98651db8f0a742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620146734e4eaa" /><Relationship Type="http://schemas.openxmlformats.org/officeDocument/2006/relationships/slideMaster" Target="/ppt/slideMasters/slideMaster1.xml" Id="R8aa81bc3d32a461e" /><Relationship Type="http://schemas.openxmlformats.org/officeDocument/2006/relationships/notesMaster" Target="/ppt/notesMasters/notesMaster1.xml" Id="R51e5944a6c6246e8" /><Relationship Type="http://schemas.openxmlformats.org/officeDocument/2006/relationships/presProps" Target="/ppt/presProps.xml" Id="R6249561ca214447a" /><Relationship Type="http://schemas.openxmlformats.org/officeDocument/2006/relationships/tableStyles" Target="/ppt/tableStyles.xml" Id="R1269a7b8063a4fff" /><Relationship Type="http://schemas.openxmlformats.org/officeDocument/2006/relationships/slide" Target="/ppt/slides/slide1.xml" Id="R600de8fcef5f47be" /><Relationship Type="http://schemas.openxmlformats.org/officeDocument/2006/relationships/slide" Target="/ppt/slides/slide2.xml" Id="R809499fa9ce849c7" /><Relationship Type="http://schemas.openxmlformats.org/officeDocument/2006/relationships/slide" Target="/ppt/slides/slide3.xml" Id="R4eaa5eb900204507" /><Relationship Type="http://schemas.openxmlformats.org/officeDocument/2006/relationships/slide" Target="/ppt/slides/slide4.xml" Id="R13618b1fcf25426b" /><Relationship Type="http://schemas.openxmlformats.org/officeDocument/2006/relationships/slide" Target="/ppt/slides/slide5.xml" Id="Rc8b2ac4a5abd46ca" /><Relationship Type="http://schemas.openxmlformats.org/officeDocument/2006/relationships/slide" Target="/ppt/slides/slide6.xml" Id="R28fa6acc78c24892" /><Relationship Type="http://schemas.openxmlformats.org/officeDocument/2006/relationships/slide" Target="/ppt/slides/slide7.xml" Id="R77673a62e9db4941" /><Relationship Type="http://schemas.openxmlformats.org/officeDocument/2006/relationships/slide" Target="/ppt/slides/slide8.xml" Id="Rb9628dc1473b4830" /><Relationship Type="http://schemas.openxmlformats.org/officeDocument/2006/relationships/slide" Target="/ppt/slides/slide9.xml" Id="R895ebe0c2c3d4892" /><Relationship Type="http://schemas.openxmlformats.org/officeDocument/2006/relationships/slide" Target="/ppt/slides/slide10.xml" Id="R87e6af1eeb1a4aee" /><Relationship Type="http://schemas.openxmlformats.org/officeDocument/2006/relationships/slide" Target="/ppt/slides/slide11.xml" Id="R1da0940a5a804c48" /><Relationship Type="http://schemas.openxmlformats.org/officeDocument/2006/relationships/slide" Target="/ppt/slides/slide12.xml" Id="R98651db8f0a742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1f93b26b5e40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01c68e8278415a" /><Relationship Type="http://schemas.openxmlformats.org/officeDocument/2006/relationships/notesMaster" Target="/ppt/notesMasters/notesMaster1.xml" Id="Rea33dad9283f49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5ce66bb1594a09" /><Relationship Type="http://schemas.openxmlformats.org/officeDocument/2006/relationships/notesMaster" Target="/ppt/notesMasters/notesMaster1.xml" Id="Rfbb1d32e07764a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1ffd6faef34876" /><Relationship Type="http://schemas.openxmlformats.org/officeDocument/2006/relationships/notesMaster" Target="/ppt/notesMasters/notesMaster1.xml" Id="R3b871bb412b148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11490ffbbd9446d" /><Relationship Type="http://schemas.openxmlformats.org/officeDocument/2006/relationships/notesMaster" Target="/ppt/notesMasters/notesMaster1.xml" Id="R8043c31dbc7440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97fc63ba5745fa" /><Relationship Type="http://schemas.openxmlformats.org/officeDocument/2006/relationships/notesMaster" Target="/ppt/notesMasters/notesMaster1.xml" Id="Rf55c9c2daa7e47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827c35e5544623" /><Relationship Type="http://schemas.openxmlformats.org/officeDocument/2006/relationships/notesMaster" Target="/ppt/notesMasters/notesMaster1.xml" Id="Rdc4e1a35c1ff43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a8c128c9f84f80" /><Relationship Type="http://schemas.openxmlformats.org/officeDocument/2006/relationships/notesMaster" Target="/ppt/notesMasters/notesMaster1.xml" Id="Rff2272e70a0343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098cbb7f104a84" /><Relationship Type="http://schemas.openxmlformats.org/officeDocument/2006/relationships/notesMaster" Target="/ppt/notesMasters/notesMaster1.xml" Id="R87b2dd63fee149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563e528ba8417d" /><Relationship Type="http://schemas.openxmlformats.org/officeDocument/2006/relationships/notesMaster" Target="/ppt/notesMasters/notesMaster1.xml" Id="Rb454428f89784b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d8fe205d9440e2" /><Relationship Type="http://schemas.openxmlformats.org/officeDocument/2006/relationships/notesMaster" Target="/ppt/notesMasters/notesMaster1.xml" Id="Rd49278301bf342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5e07922d6514a6e" /><Relationship Type="http://schemas.openxmlformats.org/officeDocument/2006/relationships/notesMaster" Target="/ppt/notesMasters/notesMaster1.xml" Id="R2812b361db9d47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ff05b4bca0404f" /><Relationship Type="http://schemas.openxmlformats.org/officeDocument/2006/relationships/notesMaster" Target="/ppt/notesMasters/notesMaster1.xml" Id="R9ef57e651ae447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제출 목적: 스타트업캡스톤디자인 4주차 팀별 MVP 관련 PPT. 사용자 지정 팀명, 팀원 이름 제외. 기준: 저장소 현행 master와 강의자료 4, 6, 7, 12, 14, 16페이지.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README.md 프로젝트 배경, docs/demo_scenario.md. 고객 인터뷰나 현장 도입 결과는 저장소에서 확인하지 못했으므로 고객 가치와 운영 효과는 검증 전 가설이다. 발표 약 20초.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강의자료 6페이지 MoSCoW 기준. README.md, docs/security_limitations.md. 우선순위는 이번 제출용 제안이며 팀 합의와 멘토 피드백으로 확정한다.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docs/demo_scenario.md, docs/validator_agent.md, backend/tests/test_proxy_analyze_api.py, test_validator_agent.py, test_sse_proxy_api.py.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docs/security_limitations.md, docs/logging_policy.md, docs/pqc_audit_integrity.md. 목표 수치 없는 성능 요구는 현재 측정 완료 주장으로 사용하지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README.md, docs/validator_agent.md, docs/pqc_audit_integrity.md, docs/security_limitations.md 및 backend/app/providers/. Validator는 규칙·heuristic 재사용 모듈이며 자율 LLM Agent가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증빙 원본: docs/images/demo_proxy_mask_phone.png, 같은 이름의 request.json 및 response.json. 과거 저장된 로컬 API 데모 결과이며 이번 제작 중 새로 캡처한 화면은 아니다. Mock 응답이므로 실제 LLM 품질 증거가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backend/tests/test_proxy_analyze_api.py, test_validator_agent.py, test_audit_integrity.py, test_sse_proxy_api.py. 2026-10-12 focused pytest 결과 17 passed, 7 warnings. 핵심 고객 검증과 전체 통합 운영 보장은 별도이다.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reports/evaluation_report.md, evaluation/sample_dataset.json. 보고서 생성 시각 2026-07-28T15:39:26. README와 동일 수치 확인. 이번 작업에서는 재평가하지 않고 기존 결과를 인용. reason-code 집계이므로 TP/FP/FN은 문장 수와 같지 않을 수 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reports/external_prompt_injection_report.md Summary, README.md 외부 평가. deepset 수치는 일치. ProtectAI는 README F1 0.3227, 보고서 F1 0.2950으로 달라 본 슬라이드 수치에서 제외했다. external-tuned 결과는 별도 supervised tuning 실험이므로 혼합하지 않았다.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docs/security_limitations.md, docs/validator_agent.md, docs/pqc_audit_integrity.md, docs/evaluation_limitations.md. 이번 제출용 범위 제안으로 실제 팀 합의와 멘토 의견에 따라 확정.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docs/team_roles.md의 역할 구분과 강의자료 13~15페이지. 아래 역할과 기한은 제안이며 개인별 실제 기여를 뜻하지 않는다. 사용자가 팀원 이름 제외를 요청했다. 고객 인터뷰·역할 배정 확정 증빙은 미확인.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7dac32d47446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f4f4965b8842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47ea86bb0244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ab33d292846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bc229f6c37495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b1a9bc78704e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762CEA-1062-46EA-9303-C06DBC24EE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B065EA-6E01-4DF3-A8B4-501089CE30D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5C99947-7E59-49E5-BE0A-0FCFBB08C3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EDCFBB-77F3-40C0-87F6-EA99B9B0AC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6D6DAE2-1737-417F-819B-AFC8A444DE6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D02571-5053-447C-AEDC-B6B56A5DE6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00FB66-6073-4B21-B87F-7B06539709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D0F6EDB-0614-47DE-B4CD-6F37606E12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9032D3-B001-4156-9F26-600CB7F906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19C1EF3-CE5E-4CA2-B950-B2DC8218996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20dfdc90f5f4319" /><Relationship Type="http://schemas.openxmlformats.org/officeDocument/2006/relationships/slideLayout" Target="/ppt/slideLayouts/slideLayout1.xml" Id="Re4d54f6aca1c42ba" /><Relationship Type="http://schemas.openxmlformats.org/officeDocument/2006/relationships/slideLayout" Target="/ppt/slideLayouts/slideLayout2.xml" Id="Rf2a9fa086e9449b7" /><Relationship Type="http://schemas.openxmlformats.org/officeDocument/2006/relationships/slideLayout" Target="/ppt/slideLayouts/slideLayout3.xml" Id="Rbd9fc8ece54546c9" /><Relationship Type="http://schemas.openxmlformats.org/officeDocument/2006/relationships/slideLayout" Target="/ppt/slideLayouts/slideLayout4.xml" Id="Re6a1cba13c924b9e" /><Relationship Type="http://schemas.openxmlformats.org/officeDocument/2006/relationships/slideLayout" Target="/ppt/slideLayouts/slideLayout5.xml" Id="Racc6e360def1415b" /><Relationship Type="http://schemas.openxmlformats.org/officeDocument/2006/relationships/slideLayout" Target="/ppt/slideLayouts/slideLayout6.xml" Id="Ra6832aa5e66346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d54f6aca1c42ba"/>
    <p:sldLayoutId xmlns:r="http://schemas.openxmlformats.org/officeDocument/2006/relationships" id="2147483650" r:id="Rf2a9fa086e9449b7"/>
    <p:sldLayoutId xmlns:r="http://schemas.openxmlformats.org/officeDocument/2006/relationships" id="2147483651" r:id="Rbd9fc8ece54546c9"/>
    <p:sldLayoutId xmlns:r="http://schemas.openxmlformats.org/officeDocument/2006/relationships" id="2147483652" r:id="Re6a1cba13c924b9e"/>
    <p:sldLayoutId xmlns:r="http://schemas.openxmlformats.org/officeDocument/2006/relationships" id="2147483653" r:id="Racc6e360def1415b"/>
    <p:sldLayoutId xmlns:r="http://schemas.openxmlformats.org/officeDocument/2006/relationships" id="2147483654" r:id="Ra6832aa5e66346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c850c1052540ed" /><Relationship Type="http://schemas.openxmlformats.org/officeDocument/2006/relationships/notesSlide" Target="/ppt/notesSlides/notesSlide1.xml" Id="R46bf638ec6474c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b158ff3c6d4179" /><Relationship Type="http://schemas.openxmlformats.org/officeDocument/2006/relationships/notesSlide" Target="/ppt/notesSlides/notesSlide2.xml" Id="R5a7717a7136f4e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0e094416504bd5" /><Relationship Type="http://schemas.openxmlformats.org/officeDocument/2006/relationships/notesSlide" Target="/ppt/notesSlides/notesSlide3.xml" Id="R6c2d546d571246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47254bfb054791" /><Relationship Type="http://schemas.openxmlformats.org/officeDocument/2006/relationships/notesSlide" Target="/ppt/notesSlides/notesSlide4.xml" Id="Rfb3b42285faa48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3942635d354e94" /><Relationship Type="http://schemas.openxmlformats.org/officeDocument/2006/relationships/notesSlide" Target="/ppt/notesSlides/notesSlide5.xml" Id="Rfa28411c4b7148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5aac9bef2d44f8" /><Relationship Type="http://schemas.openxmlformats.org/officeDocument/2006/relationships/notesSlide" Target="/ppt/notesSlides/notesSlide6.xml" Id="R705d670c709540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a0b00f4ae94ef4" /><Relationship Type="http://schemas.openxmlformats.org/officeDocument/2006/relationships/image" Target="/ppt/media/image.png" Id="R31953185a4394911" /><Relationship Type="http://schemas.openxmlformats.org/officeDocument/2006/relationships/notesSlide" Target="/ppt/notesSlides/notesSlide7.xml" Id="Rc3c67ae5b9794e8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0ad116325f41cb" /><Relationship Type="http://schemas.openxmlformats.org/officeDocument/2006/relationships/notesSlide" Target="/ppt/notesSlides/notesSlide8.xml" Id="Rc1532ed8afdc4b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ccbb4b413d4ea9" /><Relationship Type="http://schemas.openxmlformats.org/officeDocument/2006/relationships/notesSlide" Target="/ppt/notesSlides/notesSlide9.xml" Id="Rcae0402e16f2422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c00a92094c4055" /><Relationship Type="http://schemas.openxmlformats.org/officeDocument/2006/relationships/notesSlide" Target="/ppt/notesSlides/notesSlide10.xml" Id="R75865e6b856f4ee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f51144a94e483c" /><Relationship Type="http://schemas.openxmlformats.org/officeDocument/2006/relationships/notesSlide" Target="/ppt/notesSlides/notesSlide11.xml" Id="Rbf4af0d2c42f4f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67b99968094d35" /><Relationship Type="http://schemas.openxmlformats.org/officeDocument/2006/relationships/notesSlide" Target="/ppt/notesSlides/notesSlide12.xml" Id="Rc546a51ba49749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712D3-CC64-48F9-A7EF-AADE5890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프라이버시가드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263206-12AD-4356-9497-F500C43F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8E221-E85A-4F6A-8452-72944E99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10858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공공기관·사내망을 위한</a:t>
            </a:r>
          </a:p>
          <a:p xmlns:a="http://schemas.openxmlformats.org/drawingml/2006/main">
            <a:pPr>
              <a:defRPr sz="420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LLM 개인정보 유출 방지 프록시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15F137-6816-4706-9DD8-E796EC5A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rPr>
              <a:t>MVP 범위와 요구사항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CBFF66-9FB3-4A33-AAE0-DBDC15555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스타트업캡스톤디자인   2026.10.12</a:t>
            </a:r>
          </a:p>
        </p:txBody>
      </p:sp>
    </p:spTree>
    <p:extLst>
      <p:ext uri="{BB962C8B-B14F-4D97-AF65-F5344CB8AC3E}">
        <p14:creationId xmlns:p14="http://schemas.microsoft.com/office/powerpoint/2010/main" val="6423183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845F1C-7254-47BF-A2D0-49199DC50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핵심 사용 시나리오와 가치 가설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6A924-FBA7-42BF-A96A-70A2AD25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C282E-BB4F-4DFC-83A4-821F3783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rPr>
              <a:t>대상 사용자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64FF8-2001-4DEC-950F-538652FB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민원 요약에 생성형 AI를 활용하려는 담당자와 보안 운영자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97A044-9F01-4F6B-AFC3-4983504A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rPr>
              <a:t>사용 흐름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5F798-80AC-40FB-BAB2-C635B2A5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10858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민원 문장을 입력하고 위험을 사전 확인해 마스킹 또는 차단</a:t>
            </a:r>
          </a:p>
          <a:p xmlns:a="http://schemas.openxmlformats.org/drawingml/2006/main">
            <a:pPr>
              <a:defRPr sz="24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허용된 요청의 응답과 처리 근거를 확인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233738-1A6B-459E-827D-C7D2C7FC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가치 가설: 원문 재입력 부담을 줄이면서 정책 판단 근거를 확인할 수 있다. 고객 검증은 미완료.</a:t>
            </a:r>
          </a:p>
        </p:txBody>
      </p:sp>
    </p:spTree>
    <p:extLst>
      <p:ext uri="{BB962C8B-B14F-4D97-AF65-F5344CB8AC3E}">
        <p14:creationId xmlns:p14="http://schemas.microsoft.com/office/powerpoint/2010/main" val="17373922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16FA9C-D8EC-4435-8660-C8066014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MVP 우선순위와 판단 근거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7EACD2-0AFD-4A01-9655-EA59CE0C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47E20-A27D-4137-8495-6E0F79C4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rPr>
              <a:t>Must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9D5424-769C-4C5D-8CEA-5EA90230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192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입력 PII 탐지·마스킹, 인젝션 차단, 출력 검증, 최소 감사 로그</a:t>
            </a:r>
          </a:p>
          <a:p xmlns:a="http://schemas.openxmlformats.org/drawingml/2006/main">
            <a:pPr>
              <a:def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핵심 가치와 보안 경계를 확인하는 데 필요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FE3776-4874-4348-8356-22274120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rPr>
              <a:t>Should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7BA08-9749-4933-8419-35C5A9A7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사전 분석, 관리자 조회, 실제 Provider 연동 안정화</a:t>
            </a:r>
          </a:p>
          <a:p xmlns:a="http://schemas.openxmlformats.org/drawingml/2006/main">
            <a:pPr>
              <a:def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핵심 정책 검증은 API와 Mock으로 대체 가능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027515-509A-4BE1-B095-C18AEE63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rPr>
              <a:t>Could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AF512-D131-4CDB-8CB7-4F829A8A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76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사용성 개선, 추가 통계 화면</a:t>
            </a:r>
          </a:p>
          <a:p xmlns:a="http://schemas.openxmlformats.org/drawingml/2006/main">
            <a:pPr>
              <a:def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핵심 가치 검증 이후 고객 피드백으로 선정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31A2A-71F7-4076-B732-83F3EF32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우선순위는 기능의 현재 구현 여부와 별개다. 실제 상태는 뒤의 구현 범위에서 구분한다.</a:t>
            </a:r>
          </a:p>
        </p:txBody>
      </p:sp>
    </p:spTree>
    <p:extLst>
      <p:ext uri="{BB962C8B-B14F-4D97-AF65-F5344CB8AC3E}">
        <p14:creationId xmlns:p14="http://schemas.microsoft.com/office/powerpoint/2010/main" val="8734543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38BEE-C4AE-440A-91AF-75ECFDF2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기능 요구사항과 관찰 가능한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2046CB-657B-474F-8D39-C4300501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733EBF-56D2-4E28-A1C7-64B14E3B4764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3810000"/>
                <a:gridCol w="5162550"/>
              </a:tblGrid>
              <a:tr h="790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 / 우선순위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완료조건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 / Must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전화번호·이메일 등 입력 PII 처리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MASK 후 원문 PII 없이 upstream 전달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F2 / Must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정책 우회형 인젝션 차단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BLOCK 시 upstream 호출 없음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F3 / Must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LLM 생성 후 출력 재검사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출력은 MASK 또는 BLOCK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F4 / Should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전송 전 입력 사전 분석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LLM 호출 없음, Validator SKIPPED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9292E-A1EB-4299-B3D3-DC8B7625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정책 결과는 ALLOW, MASK, BLOCK, WARN과 reason_code로 설명한다. 탐지 누락 위험은 남는다.</a:t>
            </a:r>
          </a:p>
        </p:txBody>
      </p:sp>
    </p:spTree>
    <p:extLst>
      <p:ext uri="{BB962C8B-B14F-4D97-AF65-F5344CB8AC3E}">
        <p14:creationId xmlns:p14="http://schemas.microsoft.com/office/powerpoint/2010/main" val="8201066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012ECB-888A-4201-B626-B5FBF57D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보안·비기능 요구사항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9612E-511B-401D-B023-DAB31CB6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DCB8E-60AF-4101-A1E3-BAA1C198F308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286250"/>
                <a:gridCol w="4591050"/>
              </a:tblGrid>
              <a:tr h="800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보호 대상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요구사항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/ 한계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접근 권한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인증과 관리자 토큰 분리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미인증 거부 확인, 계정별 RBAC 미구현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감사 로그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판정 메타데이터만 기록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prompt·response·API key·PII 원문 미저장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 무결성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서명 인터페이스와 변조 검증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Mock signer, 실제 ML-DSA 후속 과제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응답 경로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SSE도 전체 버퍼링 후 검증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실시간 토큰 검증 아님, 지연·메모리 부담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7D2A71-4987-4C93-B665-8FFABAAE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ML-DSA 교체 가능한 감사 로그 서명 인터페이스와 Mock signer 기반 검증 구조</a:t>
            </a:r>
          </a:p>
        </p:txBody>
      </p:sp>
    </p:spTree>
    <p:extLst>
      <p:ext uri="{BB962C8B-B14F-4D97-AF65-F5344CB8AC3E}">
        <p14:creationId xmlns:p14="http://schemas.microsoft.com/office/powerpoint/2010/main" val="9529593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400228-CABC-471D-B5DB-99100A51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구현·Mock·미구현 범위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43B9EC-837A-471A-A5E5-4A45A3E0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444305-DD18-4C2A-A337-1271F4F94DF8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686800"/>
              </a:tblGrid>
              <a:tr h="800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범위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PII·인젝션 탐지, 정책 엔진, 사전 분석, 출력 Validator, 감사 로그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구현 / 조건부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Mock·OpenAI Provider 어댑터. 실서비스 연결은 키·환경 설정 필요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Mock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Mock LLM 응답과 HMAC-SHA256-MOCK 감사 로그 signer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미구현 / 후속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ML-DSA, 추가 Provider, 자동 Provider 라우팅, 계정별 RBAC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BA743-C896-4C11-9DFD-076459B9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경량 분류 artifact 누락 시 fallback을 기록한다. fallback 결과를 완전한 Hybrid 성능으로 설명하지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2153619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4F7BE-64EA-44B4-A56B-5DCD85DE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작동 증빙: 전화번호 마스킹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5FCE4-8EF5-4BDB-856B-6A6DC712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252FA-0DC4-4B6F-AFF6-847D8904C5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53185a4394911"/>
          <a:stretch xmlns:a="http://schemas.openxmlformats.org/drawingml/2006/main"/>
        </p:blipFill>
        <p:spPr>
          <a:xfrm xmlns:a="http://schemas.openxmlformats.org/drawingml/2006/main">
            <a:off x="1091142" y="1381125"/>
            <a:ext cx="6561667" cy="4429125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891E6-4B92-4D90-B756-44A57311F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952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rPr>
              <a:t>입력 MASK</a:t>
            </a:r>
          </a:p>
          <a:p xmlns:a="http://schemas.openxmlformats.org/drawingml/2006/main">
            <a:pPr>
              <a:defRPr sz="255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rPr>
              <a:t>출력 ALLOW</a:t>
            </a:r>
          </a:p>
          <a:p xmlns:a="http://schemas.openxmlformats.org/drawingml/2006/main">
            <a:pPr>
              <a:defRPr sz="255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rPr>
              <a:t>최종 MASK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EC5B3A-C5DC-45CC-B285-B1C473CE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48125"/>
            <a:ext cx="295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마스킹된 번호로</a:t>
            </a:r>
          </a:p>
          <a:p xmlns:a="http://schemas.openxmlformats.org/drawingml/2006/main">
            <a:pPr>
              <a:defRPr sz="2025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Mock 응답 생성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CE892C-FC8A-4522-8B45-838C5999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기존 저장 데모 화면. 단일 요청의 처리 예시이며 운영 성능이나 실제 LLM 응답 품질을 뜻하지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768050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DB394-4EBA-48B4-B511-7F60E71F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기능별 완료조건과 검증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3EB0D-8D42-4452-B5C7-6DA76D71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B39FD-A567-4734-9FFC-6D6109E961F4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857750"/>
                <a:gridCol w="4381500"/>
                <a:gridCol w="1733550"/>
              </a:tblGrid>
              <a:tr h="800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완료조건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증빙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이번 확인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사전 분석이 LLM을 호출하지 않음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test_proxy_analyze_api.py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출력 차단·마스킹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test_validator_agent.py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감사 레코드 변경 시 검증 실패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test_audit_integrity.py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 전 SSE 원본 토큰 미노출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test_sse_proxy_api.py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통과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EFCB7-D469-4E22-8967-66F72A3D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관련 테스트 17개 통과. FastAPI·NumPy 사용 중단 예정 경고 7건. 전체 테스트·운영 부하는 이번 범위 밖.</a:t>
            </a:r>
          </a:p>
        </p:txBody>
      </p:sp>
    </p:spTree>
    <p:extLst>
      <p:ext uri="{BB962C8B-B14F-4D97-AF65-F5344CB8AC3E}">
        <p14:creationId xmlns:p14="http://schemas.microsoft.com/office/powerpoint/2010/main" val="20506268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56556-C8AA-401F-9988-F4C1A7DC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내부 회귀 평가 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A72D4-6484-4CFC-971E-057C4F91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5FDE67-6A62-46A4-A3B4-CEF8364FC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rPr>
              <a:t>내부 회귀 113건, 기존 정책 동작 확인용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CEC03A-123B-449E-860E-0EAB231C163C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109728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2228850"/>
                <a:gridCol w="2228850"/>
                <a:gridCol w="2228850"/>
              </a:tblGrid>
              <a:tr h="746125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검사 대상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Precision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Recall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PII reason code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0.879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0.935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Injection reason code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0.852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513BF-E326-4203-8925-9EBCD00C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탐지 규칙과 함께 다듬은 내부 데이터다.</a:t>
            </a:r>
          </a:p>
          <a:p xmlns:a="http://schemas.openxmlformats.org/drawingml/2006/main">
            <a:pPr>
              <a:def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운영 환경의 일반화 성능으로 해석할 수 없다.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690E4-47F5-4B79-8A05-115D84127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출처: reports/evaluation_report.md, 2026-07-28 기록. 이번 PPT 제작 중 탐지 성능 재평가는 수행하지 않았다.</a:t>
            </a:r>
          </a:p>
        </p:txBody>
      </p:sp>
    </p:spTree>
    <p:extLst>
      <p:ext uri="{BB962C8B-B14F-4D97-AF65-F5344CB8AC3E}">
        <p14:creationId xmlns:p14="http://schemas.microsoft.com/office/powerpoint/2010/main" val="12773036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7413B2-319C-4E5D-A7F6-61C18709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외부 공개 평가와 일반화 한계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560B8-9F03-4BEC-9276-7A9BBB98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70C17B-8C98-4F77-8169-20DDE6F8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36A78"/>
                </a:solidFill>
                <a:latin typeface="Malgun Gothic"/>
                <a:ea typeface="Malgun Gothic"/>
                <a:cs typeface="Malgun Gothic"/>
              </a:rPr>
              <a:t>deepset/prompt-injections, 전체 662건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46AE0-4AE7-4200-848C-83D330454B46}"/>
              </a:ext>
            </a:extLst>
          </p:cNvPr>
          <p:cNvGraphicFramePr/>
          <p:nvPr/>
        </p:nvGraphicFramePr>
        <p:xfrm>
          <a:off xmlns:a="http://schemas.openxmlformats.org/drawingml/2006/main" x="609600" y="2381250"/>
          <a:ext xmlns:a="http://schemas.openxmlformats.org/drawingml/2006/main" cx="10972800" cy="1666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57600"/>
                <a:gridCol w="3657600"/>
                <a:gridCol w="3657600"/>
              </a:tblGrid>
              <a:tr h="833438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Precision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Recall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1.0000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0.0760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0.1413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16EB1-9A04-446F-B8C7-381753B8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영어 Prompt Injection에서 낮은 재현율이 확인됐다.</a:t>
            </a:r>
          </a:p>
          <a:p xmlns:a="http://schemas.openxmlformats.org/drawingml/2006/main">
            <a:pPr>
              <a:def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PII 평가·내부 회귀·external-tuned 결과와 분리한다.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BED0EA-F351-40E4-9467-59A370B9D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출처: reports/external_prompt_injection_report.md의 기존 결과. 한국어 공공기관 운영 성능으로 일반화 불가.</a:t>
            </a:r>
          </a:p>
        </p:txBody>
      </p:sp>
    </p:spTree>
    <p:extLst>
      <p:ext uri="{BB962C8B-B14F-4D97-AF65-F5344CB8AC3E}">
        <p14:creationId xmlns:p14="http://schemas.microsoft.com/office/powerpoint/2010/main" val="374872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21897-4AA4-4E33-A2ED-24CDD08C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이번 MVP의 범위 제외 목록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983EB-C9D2-4FAE-8243-BFD0A4A4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7DC14-00C7-4A7F-9709-B4D766A512CC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286250"/>
                <a:gridCol w="6686550"/>
              </a:tblGrid>
              <a:tr h="800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제외 범위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이유 / 재검토 조건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범용 jailbreak·간접 RAG 공격 완전 방어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우선 대상은 한국어 업무 시나리오. 별도 공격 평가 필요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ML-DSA와 PQC TLS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현재 Mock 구조. 키 관리·비용 평가 후 도입 검토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다중 Provider 자동 전환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기관 allowlist·전송 동의·감사 정책 마련 필요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운영 배포와 성능 보장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부하·보존·secret·세션 운영 검증과 고객 검증 필요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500BD-D67A-49B1-9E64-ED202A2F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제외 범위는 구현 완료 항목과 분리한다. Validator 독립 성능 및 버퍼링 비용 측정도 후속 평가로 둔다.</a:t>
            </a:r>
          </a:p>
        </p:txBody>
      </p:sp>
    </p:spTree>
    <p:extLst>
      <p:ext uri="{BB962C8B-B14F-4D97-AF65-F5344CB8AC3E}">
        <p14:creationId xmlns:p14="http://schemas.microsoft.com/office/powerpoint/2010/main" val="15215119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B6431B-7981-47EA-9F09-32BE82BE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defRPr>
            </a:pPr>
            <a:r>
              <a:rPr sz="3150" b="1">
                <a:solidFill>
                  <a:srgbClr val="17283F"/>
                </a:solidFill>
                <a:latin typeface="Malgun Gothic"/>
                <a:ea typeface="Malgun Gothic"/>
                <a:cs typeface="Malgun Gothic"/>
              </a:rPr>
              <a:t>미확인 가설과 다음 실행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6A1900-B155-4AC6-83D3-71AD57F0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0848D-FA74-4C82-9EE2-49C790B954CF}"/>
              </a:ext>
            </a:extLst>
          </p:cNvPr>
          <p:cNvGraphicFramePr/>
          <p:nvPr/>
        </p:nvGraphicFramePr>
        <p:xfrm>
          <a:off xmlns:a="http://schemas.openxmlformats.org/drawingml/2006/main" x="609600" y="14763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48250"/>
                <a:gridCol w="2190750"/>
                <a:gridCol w="3733800"/>
              </a:tblGrid>
              <a:tr h="800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확인할 가설 / 행동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역할 제안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완료조건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T w="9525">
                      <a:solidFill>
                        <a:srgbClr val="CDD7E1"/>
                      </a:solidFill>
                      <a:prstDash val="solid"/>
                    </a:lnT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17283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 문장 마스킹 후에도 요약에 유용한가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QA·통합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비식별 시나리오로 사용자 피드백 기록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오탐·미탐과 임계값을 수용할 수 있는가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정책·탐지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 사례별 근거와 수정 후보 정리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지연과 버퍼링 비용이 허용 가능한가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성능·증빙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동일 조건으로 latency·메모리 기록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권한·Provider 오류 경계가 명확한가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DD7E1"/>
                      </a:solidFill>
                      <a:prstDash val="solid"/>
                    </a:lnL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게이트웨이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83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오류와 정책 차단을 분리한 재현 증빙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DD7E1"/>
                      </a:solidFill>
                      <a:prstDash val="solid"/>
                    </a:lnR>
                    <a:lnB w="9525">
                      <a:solidFill>
                        <a:srgbClr val="CDD7E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EA128-3256-4010-8BBE-E3A3C8A4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673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3657B"/>
                </a:solidFill>
                <a:latin typeface="Malgun Gothic"/>
                <a:ea typeface="Malgun Gothic"/>
                <a:cs typeface="Malgun Gothic"/>
              </a:rPr>
              <a:t>목요일 멘토링에서 범위와 완료조건을 확정한다. 개인 담당·기한은 팀 합의 후 배정한다.</a:t>
            </a:r>
          </a:p>
        </p:txBody>
      </p:sp>
    </p:spTree>
    <p:extLst>
      <p:ext uri="{BB962C8B-B14F-4D97-AF65-F5344CB8AC3E}">
        <p14:creationId xmlns:p14="http://schemas.microsoft.com/office/powerpoint/2010/main" val="958295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2026-10-12T12:40:40.2150000Z</dcterms:created>
  <dcterms:modified xsi:type="dcterms:W3CDTF">2026-10-12T12:40:40.2150000Z</dcterms:modified>
</coreProperties>
</file>