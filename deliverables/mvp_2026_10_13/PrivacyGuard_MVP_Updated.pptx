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221bb0c8bd4633" /><Relationship Type="http://schemas.openxmlformats.org/officeDocument/2006/relationships/extended-properties" Target="/docProps/app.xml" Id="R7756baa428104ea0" /><Relationship Type="http://schemas.openxmlformats.org/officeDocument/2006/relationships/officeDocument" Target="/ppt/presentation.xml" Id="Ree257b70101e4afa" /></Relationships>
</file>

<file path=ppt/presentation.xml><?xml version="1.0" encoding="utf-8"?>
<p:presentation xmlns:p="http://schemas.openxmlformats.org/presentationml/2006/main">
  <p:sldMasterIdLst>
    <p:sldMasterId xmlns:r="http://schemas.openxmlformats.org/officeDocument/2006/relationships" id="2147483648" r:id="Rdfe4a70534174b0d"/>
  </p:sldMasterIdLst>
  <p:notesMasterIdLst>
    <p:notesMasterId xmlns:r="http://schemas.openxmlformats.org/officeDocument/2006/relationships" r:id="R0dc389b8fa304ec6"/>
  </p:notesMasterIdLst>
  <p:sldIdLst>
    <p:sldId xmlns:r="http://schemas.openxmlformats.org/officeDocument/2006/relationships" id="256" r:id="R539af41a55db4f86"/>
    <p:sldId xmlns:r="http://schemas.openxmlformats.org/officeDocument/2006/relationships" id="257" r:id="R5f3da29e551a4397"/>
    <p:sldId xmlns:r="http://schemas.openxmlformats.org/officeDocument/2006/relationships" id="258" r:id="R370ad092ea944810"/>
    <p:sldId xmlns:r="http://schemas.openxmlformats.org/officeDocument/2006/relationships" id="259" r:id="Rc28922c7ee874738"/>
    <p:sldId xmlns:r="http://schemas.openxmlformats.org/officeDocument/2006/relationships" id="260" r:id="Rcf5ad8234a8e4a67"/>
    <p:sldId xmlns:r="http://schemas.openxmlformats.org/officeDocument/2006/relationships" id="261" r:id="R7e95cea0f3e04db3"/>
    <p:sldId xmlns:r="http://schemas.openxmlformats.org/officeDocument/2006/relationships" id="262" r:id="Rdfba72c7cd814eb3"/>
    <p:sldId xmlns:r="http://schemas.openxmlformats.org/officeDocument/2006/relationships" id="263" r:id="R09b2a7720549451e"/>
    <p:sldId xmlns:r="http://schemas.openxmlformats.org/officeDocument/2006/relationships" id="264" r:id="Rbd77d3c970494025"/>
    <p:sldId xmlns:r="http://schemas.openxmlformats.org/officeDocument/2006/relationships" id="265" r:id="Ra0871987d8dc493c"/>
    <p:sldId xmlns:r="http://schemas.openxmlformats.org/officeDocument/2006/relationships" id="266" r:id="R9e0d1a69ef754507"/>
    <p:sldId xmlns:r="http://schemas.openxmlformats.org/officeDocument/2006/relationships" id="267" r:id="Rfeb0b904252f47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db40d0426240d2" /><Relationship Type="http://schemas.openxmlformats.org/officeDocument/2006/relationships/slideMaster" Target="/ppt/slideMasters/slideMaster1.xml" Id="Rdfe4a70534174b0d" /><Relationship Type="http://schemas.openxmlformats.org/officeDocument/2006/relationships/notesMaster" Target="/ppt/notesMasters/notesMaster1.xml" Id="R0dc389b8fa304ec6" /><Relationship Type="http://schemas.openxmlformats.org/officeDocument/2006/relationships/presProps" Target="/ppt/presProps.xml" Id="R95ccfe4a6db64a32" /><Relationship Type="http://schemas.openxmlformats.org/officeDocument/2006/relationships/tableStyles" Target="/ppt/tableStyles.xml" Id="R2f90da8f79eb4d0b" /><Relationship Type="http://schemas.openxmlformats.org/officeDocument/2006/relationships/slide" Target="/ppt/slides/slide1.xml" Id="R539af41a55db4f86" /><Relationship Type="http://schemas.openxmlformats.org/officeDocument/2006/relationships/slide" Target="/ppt/slides/slide2.xml" Id="R5f3da29e551a4397" /><Relationship Type="http://schemas.openxmlformats.org/officeDocument/2006/relationships/slide" Target="/ppt/slides/slide3.xml" Id="R370ad092ea944810" /><Relationship Type="http://schemas.openxmlformats.org/officeDocument/2006/relationships/slide" Target="/ppt/slides/slide4.xml" Id="Rc28922c7ee874738" /><Relationship Type="http://schemas.openxmlformats.org/officeDocument/2006/relationships/slide" Target="/ppt/slides/slide5.xml" Id="Rcf5ad8234a8e4a67" /><Relationship Type="http://schemas.openxmlformats.org/officeDocument/2006/relationships/slide" Target="/ppt/slides/slide6.xml" Id="R7e95cea0f3e04db3" /><Relationship Type="http://schemas.openxmlformats.org/officeDocument/2006/relationships/slide" Target="/ppt/slides/slide7.xml" Id="Rdfba72c7cd814eb3" /><Relationship Type="http://schemas.openxmlformats.org/officeDocument/2006/relationships/slide" Target="/ppt/slides/slide8.xml" Id="R09b2a7720549451e" /><Relationship Type="http://schemas.openxmlformats.org/officeDocument/2006/relationships/slide" Target="/ppt/slides/slide9.xml" Id="Rbd77d3c970494025" /><Relationship Type="http://schemas.openxmlformats.org/officeDocument/2006/relationships/slide" Target="/ppt/slides/slide10.xml" Id="Ra0871987d8dc493c" /><Relationship Type="http://schemas.openxmlformats.org/officeDocument/2006/relationships/slide" Target="/ppt/slides/slide11.xml" Id="R9e0d1a69ef754507" /><Relationship Type="http://schemas.openxmlformats.org/officeDocument/2006/relationships/slide" Target="/ppt/slides/slide12.xml" Id="Rfeb0b904252f47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af08a293b545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308f31366c4e81" /><Relationship Type="http://schemas.openxmlformats.org/officeDocument/2006/relationships/notesMaster" Target="/ppt/notesMasters/notesMaster1.xml" Id="R63ab6ae1156547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a52d61b9844d6b" /><Relationship Type="http://schemas.openxmlformats.org/officeDocument/2006/relationships/notesMaster" Target="/ppt/notesMasters/notesMaster1.xml" Id="R9270add01b664b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16fcd7f8cf4071" /><Relationship Type="http://schemas.openxmlformats.org/officeDocument/2006/relationships/notesMaster" Target="/ppt/notesMasters/notesMaster1.xml" Id="R0e32d596fdd24d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c693c6d5744888" /><Relationship Type="http://schemas.openxmlformats.org/officeDocument/2006/relationships/notesMaster" Target="/ppt/notesMasters/notesMaster1.xml" Id="R0eb0e61fe60d4e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799ecbeed6492c" /><Relationship Type="http://schemas.openxmlformats.org/officeDocument/2006/relationships/notesMaster" Target="/ppt/notesMasters/notesMaster1.xml" Id="R0076ef7a155d41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60f97fe9bb4da2" /><Relationship Type="http://schemas.openxmlformats.org/officeDocument/2006/relationships/notesMaster" Target="/ppt/notesMasters/notesMaster1.xml" Id="Rf9d81488734b45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25f4757eb1473c" /><Relationship Type="http://schemas.openxmlformats.org/officeDocument/2006/relationships/notesMaster" Target="/ppt/notesMasters/notesMaster1.xml" Id="R87899f815b15401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6be41c5a9f94b41" /><Relationship Type="http://schemas.openxmlformats.org/officeDocument/2006/relationships/notesMaster" Target="/ppt/notesMasters/notesMaster1.xml" Id="Re56acc946ec84c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54aaf1bb1c4e44" /><Relationship Type="http://schemas.openxmlformats.org/officeDocument/2006/relationships/notesMaster" Target="/ppt/notesMasters/notesMaster1.xml" Id="R46db8a4c242a4d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f48b532a08c40c7" /><Relationship Type="http://schemas.openxmlformats.org/officeDocument/2006/relationships/notesMaster" Target="/ppt/notesMasters/notesMaster1.xml" Id="Ra6666cd098844ad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7f5ca58f184a06" /><Relationship Type="http://schemas.openxmlformats.org/officeDocument/2006/relationships/notesMaster" Target="/ppt/notesMasters/notesMaster1.xml" Id="R52f9af1bc0e54f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b5127cee9740a0" /><Relationship Type="http://schemas.openxmlformats.org/officeDocument/2006/relationships/notesMaster" Target="/ppt/notesMasters/notesMaster1.xml" Id="Rc1196cd966194a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프라이버시가드 MVP 범위와 요구사항. 팀원 이름 제외. 2026-10-13 개정, 기준 GitHub master 7c5819d. 기존 12장 구성과 디자인 유지. 강의자료의 핵심 시나리오·MoSCoW·보안·완료조건·범위 제외 항목에 맞춘 제출 자료.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docs/codex_user_chat_admin_integration.md 요청 흐름 및 화면 구분. /app은 사전 분석 후 BLOCK 안내, WARN 확인, /proxy/chat 호출, 안전한 최종 content 표시를 제공. 일반 사용자는 상세 진단 정보를 받지 않으며 /admin에서 별도 토큰으로 확인. 고객 유용성은 미검증 가설이다.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강의자료 6페이지 MoSCoW 기준. README.md, docs/security_limitations.md. 우선순위는 이번 제출용 제안이며 팀 합의와 멘토 피드백으로 확정한다.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docs/codex_user_chat_admin_integration.md API 계약 및 backend/app/api/proxy.py. 일반 /proxy/analyze는 action만 반환하며 LLM 미호출. Validator SKIPPED는 관리자 상세 응답에서 구분. WARN 확인은 UI 절차이며 서버 정책 차단을 해제하지 않는다. 직접 호출도 서버에서 다시 검사한다. 입력 PII 탐지가 누락되면 원문 전송 위험이 남는다.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docs/security_limitations.md, docs/codex_user_chat_admin_integration.md. 상세 /proxy/chat, /proxy/analyze, SSE, 프록시 앱의 진단용 /v1/chat/completions는 사용자 Bearer와 유효한 X-Admin-Token 필요. /admin/* API는 관리자 토큰으로 인증. 계정별 RBAC는 미구현. 감사 로그에 raw prompt, raw response, API key, system prompt, 개인정보 원문을 저장하지 않는다. 현재 무결성 구조는 ML-DSA 교체 가능한 감사 로그 서명 인터페이스와 Mock signer 기반 검증 구조.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README.md, docs/codex_user_chat_admin_integration.md, docs/validator_agent.md, docs/pqc_audit_integrity.md. /login, /signup, /app, /admin 구현. 사용자 채팅은 자동 사전 분석·WARN 확인·메시지 표시·수동 재시도·새 대화를 제공. 이전 질문을 Provider에 이어 붙이지 않으므로 실제 멀티턴이 아니다. 사용자 정책은 서버 USER_POLICY_ID로 고정한다. OpenAI 어댑터는 구현했으나 실제 OpenAI 호출 미검증. Validator는 규칙 기반 후단 모듈. artifact fallback은 모델 실행으로 과장하지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증빙: reports/assets/user-chat-desktop.jpg, reports/assets/admin-diagnostic-desktop.jpg. 출처: reports/user_chat_admin_integration_verification.md의 브라우저 검증. 2026-10-12 실제 브라우저와 로컬 API/Mock upstream 통신의 저장 화면이며 이번 개정 중 새 캡처한 것이 아니다. 사용자 채팅 화면에는 기존 TEAM ORCA 브랜딩이 남아 있으며 제출 팀명은 사용자 지정 프라이버시가드다. 관리자 이미지는 현재 상세 검증 요청의 화면으로 과거 개별 감사 서명 검증 화면이 아니다. 실제 OpenAI 호출 및 탐지 정확도 증빙이 아니다. 채팅은 메모리 내 단일 질문/답변 기록이다.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reports/user_chat_admin_integration_verification.md. 2026-10-12 기록의 전체 pytest 205 passed, 1 skipped. skip은 실제 OpenAI live 테스트. 17 passed는 기존 제출 README의 2026-10-12 focused 검증 기록이며 전체 결과와 더하지 않는다. 2026-10-13 node --test frontend/demo_async.test.js 직접 재실행 30 passed, 0 failed. Node VM/Fake DOM 회귀를 실제 브라우저 검증과 혼동하지 않는다. 별도 브라우저 증빙은 7장 출처의 기존 기록. 테스트 통과가 운영 보안·고객 유용성·탐지 정확도 보장을 뜻하지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reports/evaluation_report.md, evaluation/sample_dataset.json. 보고서 생성 시각 2026-07-28T15:39:26. README와 동일 수치 확인. 이번 작업에서는 재평가하지 않고 기존 결과를 인용. reason-code 집계이므로 TP/FP/FN은 문장 수와 같지 않을 수 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reports/external_prompt_injection_report.md Summary, README.md 외부 평가. deepset 수치는 일치. ProtectAI는 README F1 0.3227, 보고서 F1 0.2950으로 달라 본 슬라이드 수치에서 제외했다. external-tuned 결과는 별도 supervised tuning 실험이므로 혼합하지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docs/security_limitations.md, docs/validator_agent.md, docs/pqc_audit_integrity.md, docs/evaluation_limitations.md. 이번 제출용 범위 제안으로 실제 팀 합의와 멘토 의견에 따라 확정.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docs/team_roles.md의 역할 구분과 강의자료 13~15페이지. 아래 역할과 기한은 제안이며 개인별 실제 기여를 뜻하지 않는다. 사용자가 팀원 이름 제외를 요청했다. 고객 인터뷰·역할 배정 확정 증빙은 미확인.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65add5958e46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9206cb9e3ed4f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1345657b2a4d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1448ca30224a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c5a8d07653844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42b14cae514b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7762CEA-1062-46EA-9303-C06DBC24EE1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B065EA-6E01-4DF3-A8B4-501089CE30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C99947-7E59-49E5-BE0A-0FCFBB08C3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EDCFBB-77F3-40C0-87F6-EA99B9B0AC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D6DAE2-1737-417F-819B-AFC8A444DE6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BD02571-5053-447C-AEDC-B6B56A5DE6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00FB66-6073-4B21-B87F-7B06539709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D0F6EDB-0614-47DE-B4CD-6F37606E124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9032D3-B001-4156-9F26-600CB7F906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9C1EF3-CE5E-4CA2-B950-B2DC821899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7fb61d900d409c" /><Relationship Type="http://schemas.openxmlformats.org/officeDocument/2006/relationships/slideLayout" Target="/ppt/slideLayouts/slideLayout1.xml" Id="Re37f53323c4f4af1" /><Relationship Type="http://schemas.openxmlformats.org/officeDocument/2006/relationships/slideLayout" Target="/ppt/slideLayouts/slideLayout2.xml" Id="Rcc55e9c5a3004241" /><Relationship Type="http://schemas.openxmlformats.org/officeDocument/2006/relationships/slideLayout" Target="/ppt/slideLayouts/slideLayout3.xml" Id="R11e86ec2706843e4" /><Relationship Type="http://schemas.openxmlformats.org/officeDocument/2006/relationships/slideLayout" Target="/ppt/slideLayouts/slideLayout4.xml" Id="R6f427600755645a4" /><Relationship Type="http://schemas.openxmlformats.org/officeDocument/2006/relationships/slideLayout" Target="/ppt/slideLayouts/slideLayout5.xml" Id="Ref811090a83b4305" /><Relationship Type="http://schemas.openxmlformats.org/officeDocument/2006/relationships/slideLayout" Target="/ppt/slideLayouts/slideLayout6.xml" Id="Re9b69406f6224c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7f53323c4f4af1"/>
    <p:sldLayoutId xmlns:r="http://schemas.openxmlformats.org/officeDocument/2006/relationships" id="2147483650" r:id="Rcc55e9c5a3004241"/>
    <p:sldLayoutId xmlns:r="http://schemas.openxmlformats.org/officeDocument/2006/relationships" id="2147483651" r:id="R11e86ec2706843e4"/>
    <p:sldLayoutId xmlns:r="http://schemas.openxmlformats.org/officeDocument/2006/relationships" id="2147483652" r:id="R6f427600755645a4"/>
    <p:sldLayoutId xmlns:r="http://schemas.openxmlformats.org/officeDocument/2006/relationships" id="2147483653" r:id="Ref811090a83b4305"/>
    <p:sldLayoutId xmlns:r="http://schemas.openxmlformats.org/officeDocument/2006/relationships" id="2147483654" r:id="Re9b69406f6224c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1f37844bdfa49f1" /><Relationship Type="http://schemas.openxmlformats.org/officeDocument/2006/relationships/notesSlide" Target="/ppt/notesSlides/notesSlide1.xml" Id="R262c091462dc47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34e253f373418c" /><Relationship Type="http://schemas.openxmlformats.org/officeDocument/2006/relationships/notesSlide" Target="/ppt/notesSlides/notesSlide2.xml" Id="R66ee140faad541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3bd1ab23c004a22" /><Relationship Type="http://schemas.openxmlformats.org/officeDocument/2006/relationships/notesSlide" Target="/ppt/notesSlides/notesSlide3.xml" Id="R63eb0ad2136142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493651f59084d6b" /><Relationship Type="http://schemas.openxmlformats.org/officeDocument/2006/relationships/notesSlide" Target="/ppt/notesSlides/notesSlide4.xml" Id="Rcf3dba1198d149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1685a840a048b4" /><Relationship Type="http://schemas.openxmlformats.org/officeDocument/2006/relationships/notesSlide" Target="/ppt/notesSlides/notesSlide5.xml" Id="R02688285c3b942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4d3e86d20644c47" /><Relationship Type="http://schemas.openxmlformats.org/officeDocument/2006/relationships/notesSlide" Target="/ppt/notesSlides/notesSlide6.xml" Id="R4c9205194e6e41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6cbb64d91e4d9c" /><Relationship Type="http://schemas.openxmlformats.org/officeDocument/2006/relationships/image" Target="/ppt/media/image.jpeg" Id="R4bf2e6b7a77a4337" /><Relationship Type="http://schemas.openxmlformats.org/officeDocument/2006/relationships/image" Target="/ppt/media/image2.jpeg" Id="R09d753cea33c4a83" /><Relationship Type="http://schemas.openxmlformats.org/officeDocument/2006/relationships/notesSlide" Target="/ppt/notesSlides/notesSlide7.xml" Id="R934bcd90bc674e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19fff8892247af" /><Relationship Type="http://schemas.openxmlformats.org/officeDocument/2006/relationships/notesSlide" Target="/ppt/notesSlides/notesSlide8.xml" Id="R7c0a1f2b459c42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2438fa8d9be419b" /><Relationship Type="http://schemas.openxmlformats.org/officeDocument/2006/relationships/notesSlide" Target="/ppt/notesSlides/notesSlide9.xml" Id="R2bc85381c5f441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56422cc96264a8d" /><Relationship Type="http://schemas.openxmlformats.org/officeDocument/2006/relationships/notesSlide" Target="/ppt/notesSlides/notesSlide10.xml" Id="R9257df19a819445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1e7d26cfe57400f" /><Relationship Type="http://schemas.openxmlformats.org/officeDocument/2006/relationships/notesSlide" Target="/ppt/notesSlides/notesSlide11.xml" Id="R2e0238fc8f794d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ec30d05dda74849" /><Relationship Type="http://schemas.openxmlformats.org/officeDocument/2006/relationships/notesSlide" Target="/ppt/notesSlides/notesSlide12.xml" Id="Rf82dd08d4c1d48f8"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F712D3-CC64-48F9-A7EF-AADE5890C690}"/>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프라이버시가드</a:t>
            </a:r>
          </a:p>
        </p:txBody>
      </p:sp>
      <p:sp>
        <p:nvSpPr>
          <p:cNvPr id="2" name="">
            <a:extLst xmlns:a="http://schemas.openxmlformats.org/drawingml/2006/main">
              <a:ext uri="{FF2B5EF4-FFF2-40B4-BE49-F238E27FC236}">
                <a16:creationId xmlns:a16="http://schemas.microsoft.com/office/drawing/2014/main" id="{85263206-12AD-4356-9497-F500C43FC398}"/>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01</a:t>
            </a:r>
          </a:p>
        </p:txBody>
      </p:sp>
      <p:sp>
        <p:nvSpPr>
          <p:cNvPr id="3" name="">
            <a:extLst xmlns:a="http://schemas.openxmlformats.org/drawingml/2006/main">
              <a:ext uri="{FF2B5EF4-FFF2-40B4-BE49-F238E27FC236}">
                <a16:creationId xmlns:a16="http://schemas.microsoft.com/office/drawing/2014/main" id="{3F28E221-E85A-4F6A-8452-72944E998F79}"/>
              </a:ext>
            </a:extLst>
          </p:cNvPr>
          <p:cNvSpPr>
            <a:spLocks xmlns:a="http://schemas.openxmlformats.org/drawingml/2006/main" noGrp="1"/>
          </p:cNvSpPr>
          <p:nvPr/>
        </p:nvSpPr>
        <p:spPr>
          <a:xfrm xmlns:a="http://schemas.openxmlformats.org/drawingml/2006/main">
            <a:off x="609600" y="200025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00" b="1">
                <a:solidFill>
                  <a:srgbClr val="17283F"/>
                </a:solidFill>
                <a:latin typeface="Malgun Gothic"/>
                <a:ea typeface="Malgun Gothic"/>
                <a:cs typeface="Malgun Gothic"/>
              </a:defRPr>
            </a:defPPr>
          </a:lstStyle>
          <a:p xmlns:a="http://schemas.openxmlformats.org/drawingml/2006/main">
            <a:pPr>
              <a:buNone/>
              <a:defRPr sz="4200" b="1">
                <a:solidFill>
                  <a:srgbClr val="17283F"/>
                </a:solidFill>
                <a:latin typeface="Malgun Gothic"/>
                <a:ea typeface="Malgun Gothic"/>
                <a:cs typeface="Malgun Gothic"/>
              </a:defRPr>
            </a:pPr>
            <a:r>
              <a:rPr sz="4200" b="1">
                <a:solidFill>
                  <a:srgbClr val="17283F"/>
                </a:solidFill>
                <a:latin typeface="Malgun Gothic"/>
                <a:ea typeface="Malgun Gothic"/>
                <a:cs typeface="Malgun Gothic"/>
              </a:rPr>
              <a:t>공공기관·사내망을 위한</a:t>
            </a:r>
          </a:p>
          <a:p xmlns:a="http://schemas.openxmlformats.org/drawingml/2006/main">
            <a:pPr>
              <a:buNone/>
              <a:defRPr sz="4200" b="1">
                <a:solidFill>
                  <a:srgbClr val="17283F"/>
                </a:solidFill>
                <a:latin typeface="Malgun Gothic"/>
                <a:ea typeface="Malgun Gothic"/>
                <a:cs typeface="Malgun Gothic"/>
              </a:defRPr>
            </a:pPr>
            <a:r>
              <a:rPr sz="4200" b="1">
                <a:solidFill>
                  <a:srgbClr val="17283F"/>
                </a:solidFill>
                <a:latin typeface="Malgun Gothic"/>
                <a:ea typeface="Malgun Gothic"/>
                <a:cs typeface="Malgun Gothic"/>
              </a:rPr>
              <a:t>LLM 개인정보 유출 방지 프록시</a:t>
            </a:r>
          </a:p>
        </p:txBody>
      </p:sp>
      <p:sp>
        <p:nvSpPr>
          <p:cNvPr id="4" name="">
            <a:extLst xmlns:a="http://schemas.openxmlformats.org/drawingml/2006/main">
              <a:ext uri="{FF2B5EF4-FFF2-40B4-BE49-F238E27FC236}">
                <a16:creationId xmlns:a16="http://schemas.microsoft.com/office/drawing/2014/main" id="{0315F137-6816-4706-9DD8-E796EC5AC62A}"/>
              </a:ext>
            </a:extLst>
          </p:cNvPr>
          <p:cNvSpPr>
            <a:spLocks xmlns:a="http://schemas.openxmlformats.org/drawingml/2006/main" noGrp="1"/>
          </p:cNvSpPr>
          <p:nvPr/>
        </p:nvSpPr>
        <p:spPr>
          <a:xfrm xmlns:a="http://schemas.openxmlformats.org/drawingml/2006/main">
            <a:off x="609600" y="41148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36A78"/>
                </a:solidFill>
                <a:latin typeface="Malgun Gothic"/>
                <a:ea typeface="Malgun Gothic"/>
                <a:cs typeface="Malgun Gothic"/>
              </a:defRPr>
            </a:defPPr>
          </a:lstStyle>
          <a:p xmlns:a="http://schemas.openxmlformats.org/drawingml/2006/main">
            <a:pPr>
              <a:buNone/>
              <a:defRPr sz="2400" b="1">
                <a:solidFill>
                  <a:srgbClr val="136A78"/>
                </a:solidFill>
                <a:latin typeface="Malgun Gothic"/>
                <a:ea typeface="Malgun Gothic"/>
                <a:cs typeface="Malgun Gothic"/>
              </a:defRPr>
            </a:pPr>
            <a:r>
              <a:rPr sz="2400" b="1">
                <a:solidFill>
                  <a:srgbClr val="136A78"/>
                </a:solidFill>
                <a:latin typeface="Malgun Gothic"/>
                <a:ea typeface="Malgun Gothic"/>
                <a:cs typeface="Malgun Gothic"/>
              </a:rPr>
              <a:t>MVP 범위와 요구사항</a:t>
            </a:r>
          </a:p>
        </p:txBody>
      </p:sp>
      <p:sp>
        <p:nvSpPr>
          <p:cNvPr id="5" name="">
            <a:extLst xmlns:a="http://schemas.openxmlformats.org/drawingml/2006/main">
              <a:ext uri="{FF2B5EF4-FFF2-40B4-BE49-F238E27FC236}">
                <a16:creationId xmlns:a16="http://schemas.microsoft.com/office/drawing/2014/main" id="{7ACBFF66-9FB3-4A33-AAE0-DBDC15555B5A}"/>
              </a:ext>
            </a:extLst>
          </p:cNvPr>
          <p:cNvSpPr>
            <a:spLocks xmlns:a="http://schemas.openxmlformats.org/drawingml/2006/main" noGrp="1"/>
          </p:cNvSpPr>
          <p:nvPr/>
        </p:nvSpPr>
        <p:spPr>
          <a:xfrm xmlns:a="http://schemas.openxmlformats.org/drawingml/2006/main">
            <a:off x="609600" y="53816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3657B"/>
                </a:solidFill>
                <a:latin typeface="Malgun Gothic"/>
                <a:ea typeface="Malgun Gothic"/>
                <a:cs typeface="Malgun Gothic"/>
              </a:defRPr>
            </a:defPPr>
          </a:lstStyle>
          <a:p xmlns:a="http://schemas.openxmlformats.org/drawingml/2006/main">
            <a:pPr>
              <a:buNone/>
              <a:defRPr sz="1800" b="0">
                <a:solidFill>
                  <a:srgbClr val="53657B"/>
                </a:solidFill>
                <a:latin typeface="Malgun Gothic"/>
                <a:ea typeface="Malgun Gothic"/>
                <a:cs typeface="Malgun Gothic"/>
              </a:defRPr>
            </a:pPr>
            <a:r>
              <a:rPr sz="1800" b="0">
                <a:solidFill>
                  <a:srgbClr val="53657B"/>
                </a:solidFill>
                <a:latin typeface="Malgun Gothic"/>
                <a:ea typeface="Malgun Gothic"/>
                <a:cs typeface="Malgun Gothic"/>
              </a:rPr>
              <a:t>스타트업캡스톤디자인   2026.10.13</a:t>
            </a:r>
          </a:p>
        </p:txBody>
      </p:sp>
    </p:spTree>
    <p:extLst>
      <p:ext uri="{BB962C8B-B14F-4D97-AF65-F5344CB8AC3E}">
        <p14:creationId xmlns:p14="http://schemas.microsoft.com/office/powerpoint/2010/main" val="642318332"/>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845F1C-7254-47BF-A2D0-49199DC501E9}"/>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핵심 사용 시나리오와 가치 가설</a:t>
            </a:r>
          </a:p>
        </p:txBody>
      </p:sp>
      <p:sp>
        <p:nvSpPr>
          <p:cNvPr id="2" name="">
            <a:extLst xmlns:a="http://schemas.openxmlformats.org/drawingml/2006/main">
              <a:ext uri="{FF2B5EF4-FFF2-40B4-BE49-F238E27FC236}">
                <a16:creationId xmlns:a16="http://schemas.microsoft.com/office/drawing/2014/main" id="{A6C6A924-FBA7-42BF-A96A-70A2AD2534AB}"/>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E72C282E-BB4F-4DFC-83A4-821F378369CF}"/>
              </a:ext>
            </a:extLst>
          </p:cNvPr>
          <p:cNvSpPr>
            <a:spLocks xmlns:a="http://schemas.openxmlformats.org/drawingml/2006/main" noGrp="1"/>
          </p:cNvSpPr>
          <p:nvPr/>
        </p:nvSpPr>
        <p:spPr>
          <a:xfrm xmlns:a="http://schemas.openxmlformats.org/drawingml/2006/main">
            <a:off x="609600" y="15716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36A78"/>
                </a:solidFill>
                <a:latin typeface="Malgun Gothic"/>
                <a:ea typeface="Malgun Gothic"/>
                <a:cs typeface="Malgun Gothic"/>
              </a:defRPr>
            </a:defPPr>
          </a:lstStyle>
          <a:p xmlns:a="http://schemas.openxmlformats.org/drawingml/2006/main">
            <a:pPr>
              <a:buNone/>
              <a:defRPr sz="2100" b="1">
                <a:solidFill>
                  <a:srgbClr val="136A78"/>
                </a:solidFill>
                <a:latin typeface="Malgun Gothic"/>
                <a:ea typeface="Malgun Gothic"/>
                <a:cs typeface="Malgun Gothic"/>
              </a:defRPr>
            </a:pPr>
            <a:r>
              <a:rPr sz="2100" b="1">
                <a:solidFill>
                  <a:srgbClr val="136A78"/>
                </a:solidFill>
                <a:latin typeface="Malgun Gothic"/>
                <a:ea typeface="Malgun Gothic"/>
                <a:cs typeface="Malgun Gothic"/>
              </a:rPr>
              <a:t>대상 사용자</a:t>
            </a:r>
          </a:p>
        </p:txBody>
      </p:sp>
      <p:sp>
        <p:nvSpPr>
          <p:cNvPr id="4" name="">
            <a:extLst xmlns:a="http://schemas.openxmlformats.org/drawingml/2006/main">
              <a:ext uri="{FF2B5EF4-FFF2-40B4-BE49-F238E27FC236}">
                <a16:creationId xmlns:a16="http://schemas.microsoft.com/office/drawing/2014/main" id="{CD164FF8-2001-4DEC-950F-538652FB50CD}"/>
              </a:ext>
            </a:extLst>
          </p:cNvPr>
          <p:cNvSpPr>
            <a:spLocks xmlns:a="http://schemas.openxmlformats.org/drawingml/2006/main" noGrp="1"/>
          </p:cNvSpPr>
          <p:nvPr/>
        </p:nvSpPr>
        <p:spPr>
          <a:xfrm xmlns:a="http://schemas.openxmlformats.org/drawingml/2006/main">
            <a:off x="609600" y="20764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83F"/>
                </a:solidFill>
                <a:latin typeface="Malgun Gothic"/>
                <a:ea typeface="Malgun Gothic"/>
                <a:cs typeface="Malgun Gothic"/>
              </a:defRPr>
            </a:defPPr>
          </a:lstStyle>
          <a:p xmlns:a="http://schemas.openxmlformats.org/drawingml/2006/main">
            <a:pPr>
              <a:buNone/>
              <a:defRPr sz="2400" b="0">
                <a:solidFill>
                  <a:srgbClr val="17283F"/>
                </a:solidFill>
                <a:latin typeface="Malgun Gothic"/>
                <a:ea typeface="Malgun Gothic"/>
                <a:cs typeface="Malgun Gothic"/>
              </a:defRPr>
            </a:pPr>
            <a:r>
              <a:rPr sz="2400" b="0">
                <a:solidFill>
                  <a:srgbClr val="17283F"/>
                </a:solidFill>
                <a:latin typeface="Malgun Gothic"/>
                <a:ea typeface="Malgun Gothic"/>
                <a:cs typeface="Malgun Gothic"/>
              </a:rPr>
              <a:t>민원 요약에 생성형 AI를 활용하려는 담당자와 보안 운영자</a:t>
            </a:r>
          </a:p>
        </p:txBody>
      </p:sp>
      <p:sp>
        <p:nvSpPr>
          <p:cNvPr id="5" name="">
            <a:extLst xmlns:a="http://schemas.openxmlformats.org/drawingml/2006/main">
              <a:ext uri="{FF2B5EF4-FFF2-40B4-BE49-F238E27FC236}">
                <a16:creationId xmlns:a16="http://schemas.microsoft.com/office/drawing/2014/main" id="{1297A044-9F01-4F6B-AFC3-4983504A39A1}"/>
              </a:ext>
            </a:extLst>
          </p:cNvPr>
          <p:cNvSpPr>
            <a:spLocks xmlns:a="http://schemas.openxmlformats.org/drawingml/2006/main" noGrp="1"/>
          </p:cNvSpPr>
          <p:nvPr/>
        </p:nvSpPr>
        <p:spPr>
          <a:xfrm xmlns:a="http://schemas.openxmlformats.org/drawingml/2006/main">
            <a:off x="609600" y="314325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36A78"/>
                </a:solidFill>
                <a:latin typeface="Malgun Gothic"/>
                <a:ea typeface="Malgun Gothic"/>
                <a:cs typeface="Malgun Gothic"/>
              </a:defRPr>
            </a:defPPr>
          </a:lstStyle>
          <a:p xmlns:a="http://schemas.openxmlformats.org/drawingml/2006/main">
            <a:pPr>
              <a:buNone/>
              <a:defRPr sz="2100" b="1">
                <a:solidFill>
                  <a:srgbClr val="136A78"/>
                </a:solidFill>
                <a:latin typeface="Malgun Gothic"/>
                <a:ea typeface="Malgun Gothic"/>
                <a:cs typeface="Malgun Gothic"/>
              </a:defRPr>
            </a:pPr>
            <a:r>
              <a:rPr sz="2100" b="1">
                <a:solidFill>
                  <a:srgbClr val="136A78"/>
                </a:solidFill>
                <a:latin typeface="Malgun Gothic"/>
                <a:ea typeface="Malgun Gothic"/>
                <a:cs typeface="Malgun Gothic"/>
              </a:rPr>
              <a:t>사용 흐름</a:t>
            </a:r>
          </a:p>
        </p:txBody>
      </p:sp>
      <p:sp>
        <p:nvSpPr>
          <p:cNvPr id="6" name="">
            <a:extLst xmlns:a="http://schemas.openxmlformats.org/drawingml/2006/main">
              <a:ext uri="{FF2B5EF4-FFF2-40B4-BE49-F238E27FC236}">
                <a16:creationId xmlns:a16="http://schemas.microsoft.com/office/drawing/2014/main" id="{8925F798-80AC-40FB-BAB2-C635B2A522E8}"/>
              </a:ext>
            </a:extLst>
          </p:cNvPr>
          <p:cNvSpPr>
            <a:spLocks xmlns:a="http://schemas.openxmlformats.org/drawingml/2006/main" noGrp="1"/>
          </p:cNvSpPr>
          <p:nvPr/>
        </p:nvSpPr>
        <p:spPr>
          <a:xfrm xmlns:a="http://schemas.openxmlformats.org/drawingml/2006/main">
            <a:off x="609600" y="3667125"/>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283F"/>
                </a:solidFill>
                <a:latin typeface="Malgun Gothic"/>
                <a:ea typeface="Malgun Gothic"/>
                <a:cs typeface="Malgun Gothic"/>
              </a:defRPr>
            </a:defPPr>
          </a:lstStyle>
          <a:p xmlns:a="http://schemas.openxmlformats.org/drawingml/2006/main">
            <a:pPr>
              <a:buNone/>
              <a:defRPr sz="2400" b="0">
                <a:solidFill>
                  <a:srgbClr val="17283F"/>
                </a:solidFill>
                <a:latin typeface="Malgun Gothic"/>
                <a:ea typeface="Malgun Gothic"/>
                <a:cs typeface="Malgun Gothic"/>
              </a:defRPr>
            </a:pPr>
            <a:r>
              <a:rPr sz="2400" b="0">
                <a:solidFill>
                  <a:srgbClr val="17283F"/>
                </a:solidFill>
                <a:latin typeface="Malgun Gothic"/>
                <a:ea typeface="Malgun Gothic"/>
                <a:cs typeface="Malgun Gothic"/>
              </a:rPr>
              <a:t>로그인 후 질문을 입력하면 자동 사전 분석과 WARN 확인</a:t>
            </a:r>
          </a:p>
          <a:p xmlns:a="http://schemas.openxmlformats.org/drawingml/2006/main">
            <a:pPr>
              <a:buNone/>
              <a:defRPr sz="2400" b="0">
                <a:solidFill>
                  <a:srgbClr val="17283F"/>
                </a:solidFill>
                <a:latin typeface="Malgun Gothic"/>
                <a:ea typeface="Malgun Gothic"/>
                <a:cs typeface="Malgun Gothic"/>
              </a:defRPr>
            </a:pPr>
            <a:r>
              <a:rPr sz="2400" b="0">
                <a:solidFill>
                  <a:srgbClr val="17283F"/>
                </a:solidFill>
                <a:latin typeface="Malgun Gothic"/>
                <a:ea typeface="Malgun Gothic"/>
                <a:cs typeface="Malgun Gothic"/>
              </a:rPr>
              <a:t>검증한 최종 답변을 표시하고 관리자가 처리 근거를 확인</a:t>
            </a:r>
          </a:p>
        </p:txBody>
      </p:sp>
      <p:sp>
        <p:nvSpPr>
          <p:cNvPr id="7" name="">
            <a:extLst xmlns:a="http://schemas.openxmlformats.org/drawingml/2006/main">
              <a:ext uri="{FF2B5EF4-FFF2-40B4-BE49-F238E27FC236}">
                <a16:creationId xmlns:a16="http://schemas.microsoft.com/office/drawing/2014/main" id="{BF233738-1A6B-459E-827D-C7D2C7FC7164}"/>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가치 가설: 원문 재입력 부담을 줄이면서 정책 판단 근거를 확인할 수 있다. 고객 검증은 미완료.</a:t>
            </a:r>
          </a:p>
        </p:txBody>
      </p:sp>
    </p:spTree>
    <p:extLst>
      <p:ext uri="{BB962C8B-B14F-4D97-AF65-F5344CB8AC3E}">
        <p14:creationId xmlns:p14="http://schemas.microsoft.com/office/powerpoint/2010/main" val="1737392239"/>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F16FA9C-D8EC-4435-8660-C8066014BC4C}"/>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MVP 우선순위와 판단 근거</a:t>
            </a:r>
          </a:p>
        </p:txBody>
      </p:sp>
      <p:sp>
        <p:nvSpPr>
          <p:cNvPr id="2" name="">
            <a:extLst xmlns:a="http://schemas.openxmlformats.org/drawingml/2006/main">
              <a:ext uri="{FF2B5EF4-FFF2-40B4-BE49-F238E27FC236}">
                <a16:creationId xmlns:a16="http://schemas.microsoft.com/office/drawing/2014/main" id="{247EACD2-0AFD-4A01-9655-EA59CE0C78E5}"/>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4DF47E20-A27D-4137-8495-6E0F79C4C8B4}"/>
              </a:ext>
            </a:extLst>
          </p:cNvPr>
          <p:cNvSpPr>
            <a:spLocks xmlns:a="http://schemas.openxmlformats.org/drawingml/2006/main" noGrp="1"/>
          </p:cNvSpPr>
          <p:nvPr/>
        </p:nvSpPr>
        <p:spPr>
          <a:xfrm xmlns:a="http://schemas.openxmlformats.org/drawingml/2006/main">
            <a:off x="609600" y="16192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36A78"/>
                </a:solidFill>
                <a:latin typeface="Malgun Gothic"/>
                <a:ea typeface="Malgun Gothic"/>
                <a:cs typeface="Malgun Gothic"/>
              </a:defRPr>
            </a:defPPr>
          </a:lstStyle>
          <a:p xmlns:a="http://schemas.openxmlformats.org/drawingml/2006/main">
            <a:pPr>
              <a:buNone/>
              <a:defRPr sz="2400" b="1">
                <a:solidFill>
                  <a:srgbClr val="136A78"/>
                </a:solidFill>
                <a:latin typeface="Malgun Gothic"/>
                <a:ea typeface="Malgun Gothic"/>
                <a:cs typeface="Malgun Gothic"/>
              </a:defRPr>
            </a:pPr>
            <a:r>
              <a:rPr sz="2400" b="1">
                <a:solidFill>
                  <a:srgbClr val="136A78"/>
                </a:solidFill>
                <a:latin typeface="Malgun Gothic"/>
                <a:ea typeface="Malgun Gothic"/>
                <a:cs typeface="Malgun Gothic"/>
              </a:rPr>
              <a:t>Must</a:t>
            </a:r>
          </a:p>
        </p:txBody>
      </p:sp>
      <p:sp>
        <p:nvSpPr>
          <p:cNvPr id="4" name="">
            <a:extLst xmlns:a="http://schemas.openxmlformats.org/drawingml/2006/main">
              <a:ext uri="{FF2B5EF4-FFF2-40B4-BE49-F238E27FC236}">
                <a16:creationId xmlns:a16="http://schemas.microsoft.com/office/drawing/2014/main" id="{419D5424-769C-4C5D-8CEA-5EA902304C0E}"/>
              </a:ext>
            </a:extLst>
          </p:cNvPr>
          <p:cNvSpPr>
            <a:spLocks xmlns:a="http://schemas.openxmlformats.org/drawingml/2006/main" noGrp="1"/>
          </p:cNvSpPr>
          <p:nvPr/>
        </p:nvSpPr>
        <p:spPr>
          <a:xfrm xmlns:a="http://schemas.openxmlformats.org/drawingml/2006/main">
            <a:off x="2857500" y="1619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83F"/>
                </a:solidFill>
                <a:latin typeface="Malgun Gothic"/>
                <a:ea typeface="Malgun Gothic"/>
                <a:cs typeface="Malgun Gothic"/>
              </a:defRPr>
            </a:defPPr>
          </a:lstStyle>
          <a:p xmlns:a="http://schemas.openxmlformats.org/drawingml/2006/main">
            <a:pPr>
              <a:buNone/>
              <a:defRPr sz="2100" b="0">
                <a:solidFill>
                  <a:srgbClr val="17283F"/>
                </a:solidFill>
                <a:latin typeface="Malgun Gothic"/>
                <a:ea typeface="Malgun Gothic"/>
                <a:cs typeface="Malgun Gothic"/>
              </a:defRPr>
            </a:pPr>
            <a:r>
              <a:rPr sz="2100" b="0">
                <a:solidFill>
                  <a:srgbClr val="17283F"/>
                </a:solidFill>
                <a:latin typeface="Malgun Gothic"/>
                <a:ea typeface="Malgun Gothic"/>
                <a:cs typeface="Malgun Gothic"/>
              </a:rPr>
              <a:t>입력 PII 탐지·마스킹, 인젝션 차단, 출력 검증, 최소 감사 로그</a:t>
            </a:r>
          </a:p>
          <a:p xmlns:a="http://schemas.openxmlformats.org/drawingml/2006/main">
            <a:pPr>
              <a:buNone/>
              <a:defRPr sz="2100" b="0">
                <a:solidFill>
                  <a:srgbClr val="17283F"/>
                </a:solidFill>
                <a:latin typeface="Malgun Gothic"/>
                <a:ea typeface="Malgun Gothic"/>
                <a:cs typeface="Malgun Gothic"/>
              </a:defRPr>
            </a:pPr>
            <a:r>
              <a:rPr sz="2100" b="0">
                <a:solidFill>
                  <a:srgbClr val="17283F"/>
                </a:solidFill>
                <a:latin typeface="Malgun Gothic"/>
                <a:ea typeface="Malgun Gothic"/>
                <a:cs typeface="Malgun Gothic"/>
              </a:rPr>
              <a:t>핵심 가치와 보안 경계를 확인하는 데 필요</a:t>
            </a:r>
          </a:p>
        </p:txBody>
      </p:sp>
      <p:sp>
        <p:nvSpPr>
          <p:cNvPr id="5" name="">
            <a:extLst xmlns:a="http://schemas.openxmlformats.org/drawingml/2006/main">
              <a:ext uri="{FF2B5EF4-FFF2-40B4-BE49-F238E27FC236}">
                <a16:creationId xmlns:a16="http://schemas.microsoft.com/office/drawing/2014/main" id="{24FE3776-4874-4348-8356-22274120E62A}"/>
              </a:ext>
            </a:extLst>
          </p:cNvPr>
          <p:cNvSpPr>
            <a:spLocks xmlns:a="http://schemas.openxmlformats.org/drawingml/2006/main" noGrp="1"/>
          </p:cNvSpPr>
          <p:nvPr/>
        </p:nvSpPr>
        <p:spPr>
          <a:xfrm xmlns:a="http://schemas.openxmlformats.org/drawingml/2006/main">
            <a:off x="609600" y="30480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36A78"/>
                </a:solidFill>
                <a:latin typeface="Malgun Gothic"/>
                <a:ea typeface="Malgun Gothic"/>
                <a:cs typeface="Malgun Gothic"/>
              </a:defRPr>
            </a:defPPr>
          </a:lstStyle>
          <a:p xmlns:a="http://schemas.openxmlformats.org/drawingml/2006/main">
            <a:pPr>
              <a:buNone/>
              <a:defRPr sz="2400" b="1">
                <a:solidFill>
                  <a:srgbClr val="136A78"/>
                </a:solidFill>
                <a:latin typeface="Malgun Gothic"/>
                <a:ea typeface="Malgun Gothic"/>
                <a:cs typeface="Malgun Gothic"/>
              </a:defRPr>
            </a:pPr>
            <a:r>
              <a:rPr sz="2400" b="1">
                <a:solidFill>
                  <a:srgbClr val="136A78"/>
                </a:solidFill>
                <a:latin typeface="Malgun Gothic"/>
                <a:ea typeface="Malgun Gothic"/>
                <a:cs typeface="Malgun Gothic"/>
              </a:rPr>
              <a:t>Should</a:t>
            </a:r>
          </a:p>
        </p:txBody>
      </p:sp>
      <p:sp>
        <p:nvSpPr>
          <p:cNvPr id="6" name="">
            <a:extLst xmlns:a="http://schemas.openxmlformats.org/drawingml/2006/main">
              <a:ext uri="{FF2B5EF4-FFF2-40B4-BE49-F238E27FC236}">
                <a16:creationId xmlns:a16="http://schemas.microsoft.com/office/drawing/2014/main" id="{C2F7BA08-9749-4933-8419-35C5A9A7EFA3}"/>
              </a:ext>
            </a:extLst>
          </p:cNvPr>
          <p:cNvSpPr>
            <a:spLocks xmlns:a="http://schemas.openxmlformats.org/drawingml/2006/main" noGrp="1"/>
          </p:cNvSpPr>
          <p:nvPr/>
        </p:nvSpPr>
        <p:spPr>
          <a:xfrm xmlns:a="http://schemas.openxmlformats.org/drawingml/2006/main">
            <a:off x="2857500" y="30480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83F"/>
                </a:solidFill>
                <a:latin typeface="Malgun Gothic"/>
                <a:ea typeface="Malgun Gothic"/>
                <a:cs typeface="Malgun Gothic"/>
              </a:defRPr>
            </a:defPPr>
          </a:lstStyle>
          <a:p xmlns:a="http://schemas.openxmlformats.org/drawingml/2006/main">
            <a:pPr>
              <a:buNone/>
              <a:defRPr sz="2100" b="0">
                <a:solidFill>
                  <a:srgbClr val="17283F"/>
                </a:solidFill>
                <a:latin typeface="Malgun Gothic"/>
                <a:ea typeface="Malgun Gothic"/>
                <a:cs typeface="Malgun Gothic"/>
              </a:defRPr>
            </a:pPr>
            <a:r>
              <a:rPr sz="2100" b="0">
                <a:solidFill>
                  <a:srgbClr val="17283F"/>
                </a:solidFill>
                <a:latin typeface="Malgun Gothic"/>
                <a:ea typeface="Malgun Gothic"/>
                <a:cs typeface="Malgun Gothic"/>
              </a:rPr>
              <a:t>사전 분석, 관리자 조회, 실제 Provider 연동 안정화</a:t>
            </a:r>
          </a:p>
          <a:p xmlns:a="http://schemas.openxmlformats.org/drawingml/2006/main">
            <a:pPr>
              <a:buNone/>
              <a:defRPr sz="2100" b="0">
                <a:solidFill>
                  <a:srgbClr val="17283F"/>
                </a:solidFill>
                <a:latin typeface="Malgun Gothic"/>
                <a:ea typeface="Malgun Gothic"/>
                <a:cs typeface="Malgun Gothic"/>
              </a:defRPr>
            </a:pPr>
            <a:r>
              <a:rPr sz="2100" b="0">
                <a:solidFill>
                  <a:srgbClr val="17283F"/>
                </a:solidFill>
                <a:latin typeface="Malgun Gothic"/>
                <a:ea typeface="Malgun Gothic"/>
                <a:cs typeface="Malgun Gothic"/>
              </a:rPr>
              <a:t>핵심 정책 검증은 API와 Mock으로 대체 가능</a:t>
            </a:r>
          </a:p>
        </p:txBody>
      </p:sp>
      <p:sp>
        <p:nvSpPr>
          <p:cNvPr id="7" name="">
            <a:extLst xmlns:a="http://schemas.openxmlformats.org/drawingml/2006/main">
              <a:ext uri="{FF2B5EF4-FFF2-40B4-BE49-F238E27FC236}">
                <a16:creationId xmlns:a16="http://schemas.microsoft.com/office/drawing/2014/main" id="{C8027515-509A-4BE1-B095-C18AEE6391F5}"/>
              </a:ext>
            </a:extLst>
          </p:cNvPr>
          <p:cNvSpPr>
            <a:spLocks xmlns:a="http://schemas.openxmlformats.org/drawingml/2006/main" noGrp="1"/>
          </p:cNvSpPr>
          <p:nvPr/>
        </p:nvSpPr>
        <p:spPr>
          <a:xfrm xmlns:a="http://schemas.openxmlformats.org/drawingml/2006/main">
            <a:off x="609600" y="44767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36A78"/>
                </a:solidFill>
                <a:latin typeface="Malgun Gothic"/>
                <a:ea typeface="Malgun Gothic"/>
                <a:cs typeface="Malgun Gothic"/>
              </a:defRPr>
            </a:defPPr>
          </a:lstStyle>
          <a:p xmlns:a="http://schemas.openxmlformats.org/drawingml/2006/main">
            <a:pPr>
              <a:buNone/>
              <a:defRPr sz="2400" b="1">
                <a:solidFill>
                  <a:srgbClr val="136A78"/>
                </a:solidFill>
                <a:latin typeface="Malgun Gothic"/>
                <a:ea typeface="Malgun Gothic"/>
                <a:cs typeface="Malgun Gothic"/>
              </a:defRPr>
            </a:pPr>
            <a:r>
              <a:rPr sz="2400" b="1">
                <a:solidFill>
                  <a:srgbClr val="136A78"/>
                </a:solidFill>
                <a:latin typeface="Malgun Gothic"/>
                <a:ea typeface="Malgun Gothic"/>
                <a:cs typeface="Malgun Gothic"/>
              </a:rPr>
              <a:t>Could</a:t>
            </a:r>
          </a:p>
        </p:txBody>
      </p:sp>
      <p:sp>
        <p:nvSpPr>
          <p:cNvPr id="8" name="">
            <a:extLst xmlns:a="http://schemas.openxmlformats.org/drawingml/2006/main">
              <a:ext uri="{FF2B5EF4-FFF2-40B4-BE49-F238E27FC236}">
                <a16:creationId xmlns:a16="http://schemas.microsoft.com/office/drawing/2014/main" id="{B4CAF512-D131-4CDB-8CB7-4F829A8A734B}"/>
              </a:ext>
            </a:extLst>
          </p:cNvPr>
          <p:cNvSpPr>
            <a:spLocks xmlns:a="http://schemas.openxmlformats.org/drawingml/2006/main" noGrp="1"/>
          </p:cNvSpPr>
          <p:nvPr/>
        </p:nvSpPr>
        <p:spPr>
          <a:xfrm xmlns:a="http://schemas.openxmlformats.org/drawingml/2006/main">
            <a:off x="2857500" y="4476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83F"/>
                </a:solidFill>
                <a:latin typeface="Malgun Gothic"/>
                <a:ea typeface="Malgun Gothic"/>
                <a:cs typeface="Malgun Gothic"/>
              </a:defRPr>
            </a:defPPr>
          </a:lstStyle>
          <a:p xmlns:a="http://schemas.openxmlformats.org/drawingml/2006/main">
            <a:pPr>
              <a:buNone/>
              <a:defRPr sz="2100" b="0">
                <a:solidFill>
                  <a:srgbClr val="17283F"/>
                </a:solidFill>
                <a:latin typeface="Malgun Gothic"/>
                <a:ea typeface="Malgun Gothic"/>
                <a:cs typeface="Malgun Gothic"/>
              </a:defRPr>
            </a:pPr>
            <a:r>
              <a:rPr sz="2100" b="0">
                <a:solidFill>
                  <a:srgbClr val="17283F"/>
                </a:solidFill>
                <a:latin typeface="Malgun Gothic"/>
                <a:ea typeface="Malgun Gothic"/>
                <a:cs typeface="Malgun Gothic"/>
              </a:rPr>
              <a:t>사용성 개선, 추가 통계 화면</a:t>
            </a:r>
          </a:p>
          <a:p xmlns:a="http://schemas.openxmlformats.org/drawingml/2006/main">
            <a:pPr>
              <a:buNone/>
              <a:defRPr sz="2100" b="0">
                <a:solidFill>
                  <a:srgbClr val="17283F"/>
                </a:solidFill>
                <a:latin typeface="Malgun Gothic"/>
                <a:ea typeface="Malgun Gothic"/>
                <a:cs typeface="Malgun Gothic"/>
              </a:defRPr>
            </a:pPr>
            <a:r>
              <a:rPr sz="2100" b="0">
                <a:solidFill>
                  <a:srgbClr val="17283F"/>
                </a:solidFill>
                <a:latin typeface="Malgun Gothic"/>
                <a:ea typeface="Malgun Gothic"/>
                <a:cs typeface="Malgun Gothic"/>
              </a:rPr>
              <a:t>핵심 가치 검증 이후 고객 피드백으로 선정</a:t>
            </a:r>
          </a:p>
        </p:txBody>
      </p:sp>
      <p:sp>
        <p:nvSpPr>
          <p:cNvPr id="9" name="">
            <a:extLst xmlns:a="http://schemas.openxmlformats.org/drawingml/2006/main">
              <a:ext uri="{FF2B5EF4-FFF2-40B4-BE49-F238E27FC236}">
                <a16:creationId xmlns:a16="http://schemas.microsoft.com/office/drawing/2014/main" id="{88331A2A-71F7-4076-B732-83F3EF32538A}"/>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우선순위는 기능의 현재 구현 여부와 별개다. 실제 상태는 뒤의 구현 범위에서 구분한다.</a:t>
            </a:r>
          </a:p>
        </p:txBody>
      </p:sp>
    </p:spTree>
    <p:extLst>
      <p:ext uri="{BB962C8B-B14F-4D97-AF65-F5344CB8AC3E}">
        <p14:creationId xmlns:p14="http://schemas.microsoft.com/office/powerpoint/2010/main" val="873454315"/>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D38BEE-C4AE-440A-91AF-75ECFDF22BD8}"/>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기능 요구사항과 관찰 가능한 결과</a:t>
            </a:r>
          </a:p>
        </p:txBody>
      </p:sp>
      <p:sp>
        <p:nvSpPr>
          <p:cNvPr id="2" name="">
            <a:extLst xmlns:a="http://schemas.openxmlformats.org/drawingml/2006/main">
              <a:ext uri="{FF2B5EF4-FFF2-40B4-BE49-F238E27FC236}">
                <a16:creationId xmlns:a16="http://schemas.microsoft.com/office/drawing/2014/main" id="{E62046CB-657B-474F-8D39-C430050117EF}"/>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04</a:t>
            </a:r>
          </a:p>
        </p:txBody>
      </p:sp>
      <p:graphicFrame>
        <p:nvGraphicFramePr>
          <p:cNvPr id="3" name="">
            <a:extLst xmlns:a="http://schemas.openxmlformats.org/drawingml/2006/main">
              <a:ext uri="{FF2B5EF4-FFF2-40B4-BE49-F238E27FC236}">
                <a16:creationId xmlns:a16="http://schemas.microsoft.com/office/drawing/2014/main" id="{FFF83EF6-AA6D-4F2D-BD83-52DF089256C7}"/>
              </a:ext>
            </a:extLst>
          </p:cNvPr>
          <p:cNvGraphicFramePr/>
          <p:nvPr/>
        </p:nvGraphicFramePr>
        <p:xfrm>
          <a:off xmlns:a="http://schemas.openxmlformats.org/drawingml/2006/main" x="609600" y="1524000"/>
          <a:ext xmlns:a="http://schemas.openxmlformats.org/drawingml/2006/main" cx="10972800" cy="3952875"/>
        </p:xfrm>
        <a:graphic xmlns:a="http://schemas.openxmlformats.org/drawingml/2006/main">
          <a:graphicData uri="http://schemas.openxmlformats.org/drawingml/2006/table">
            <a:tbl>
              <a:tblPr/>
              <a:tblGrid>
                <a:gridCol w="2000250"/>
                <a:gridCol w="3810000"/>
                <a:gridCol w="5162550"/>
              </a:tblGrid>
              <a:tr h="790575">
                <a:tc>
                  <a:txBody>
                    <a:bodyPr/>
                    <a:lstStyle/>
                    <a:p>
                      <a:r>
                        <a:rPr sz="1800" b="1">
                          <a:solidFill>
                            <a:srgbClr val="FFFFFF"/>
                          </a:solidFill>
                          <a:latin typeface="Malgun Gothic"/>
                          <a:ea typeface="Malgun Gothic"/>
                          <a:cs typeface="Malgun Gothic"/>
                        </a:rPr>
                        <a:t>ID / 우선순위</a:t>
                      </a:r>
                    </a:p>
                  </a:txBody>
                  <a:tcPr marL="91440" marR="91440" marT="45720" marB="45720">
                    <a:lnL w="9525">
                      <a:solidFill>
                        <a:srgbClr val="CDD7E1"/>
                      </a:solidFill>
                      <a:prstDash val="solid"/>
                    </a:lnL>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1800" b="1">
                          <a:solidFill>
                            <a:srgbClr val="FFFFFF"/>
                          </a:solidFill>
                          <a:latin typeface="Malgun Gothic"/>
                          <a:ea typeface="Malgun Gothic"/>
                          <a:cs typeface="Malgun Gothic"/>
                        </a:rPr>
                        <a:t>요구사항</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1800" b="1">
                          <a:solidFill>
                            <a:srgbClr val="FFFFFF"/>
                          </a:solidFill>
                          <a:latin typeface="Malgun Gothic"/>
                          <a:ea typeface="Malgun Gothic"/>
                          <a:cs typeface="Malgun Gothic"/>
                        </a:rPr>
                        <a:t>완료조건</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r>
              <a:tr h="790575">
                <a:tc>
                  <a:txBody>
                    <a:bodyPr/>
                    <a:lstStyle/>
                    <a:p>
                      <a:r>
                        <a:rPr sz="1800" b="0">
                          <a:solidFill>
                            <a:srgbClr val="17283F"/>
                          </a:solidFill>
                          <a:latin typeface="Malgun Gothic"/>
                          <a:ea typeface="Malgun Gothic"/>
                          <a:cs typeface="Malgun Gothic"/>
                        </a:rPr>
                        <a:t>F1 / Must</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전화번호·이메일 등 입력 PII 처리</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탐지한 PII를 마스킹 후 upstream 전달</a:t>
                      </a:r>
                    </a:p>
                  </a:txBody>
                  <a:tcPr marL="91440" marR="91440" marT="45720" marB="45720">
                    <a:lnR w="9525">
                      <a:solidFill>
                        <a:srgbClr val="CDD7E1"/>
                      </a:solidFill>
                      <a:prstDash val="solid"/>
                    </a:lnR>
                    <a:lnB w="9525">
                      <a:solidFill>
                        <a:srgbClr val="CDD7E1"/>
                      </a:solidFill>
                      <a:prstDash val="solid"/>
                    </a:lnB>
                    <a:solidFill>
                      <a:srgbClr val="FFFFFF"/>
                    </a:solidFill>
                  </a:tcPr>
                </a:tc>
              </a:tr>
              <a:tr h="790575">
                <a:tc>
                  <a:txBody>
                    <a:bodyPr/>
                    <a:lstStyle/>
                    <a:p>
                      <a:r>
                        <a:rPr sz="1800" b="0">
                          <a:solidFill>
                            <a:srgbClr val="17283F"/>
                          </a:solidFill>
                          <a:latin typeface="Malgun Gothic"/>
                          <a:ea typeface="Malgun Gothic"/>
                          <a:cs typeface="Malgun Gothic"/>
                        </a:rPr>
                        <a:t>F2 / Must</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정책 우회형 인젝션 차단</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BLOCK 시 upstream 호출 없음</a:t>
                      </a:r>
                    </a:p>
                  </a:txBody>
                  <a:tcPr marL="91440" marR="91440" marT="45720" marB="45720">
                    <a:lnR w="9525">
                      <a:solidFill>
                        <a:srgbClr val="CDD7E1"/>
                      </a:solidFill>
                      <a:prstDash val="solid"/>
                    </a:lnR>
                    <a:lnB w="9525">
                      <a:solidFill>
                        <a:srgbClr val="CDD7E1"/>
                      </a:solidFill>
                      <a:prstDash val="solid"/>
                    </a:lnB>
                    <a:solidFill>
                      <a:srgbClr val="FFFFFF"/>
                    </a:solidFill>
                  </a:tcPr>
                </a:tc>
              </a:tr>
              <a:tr h="790575">
                <a:tc>
                  <a:txBody>
                    <a:bodyPr/>
                    <a:lstStyle/>
                    <a:p>
                      <a:r>
                        <a:rPr sz="1800" b="0">
                          <a:solidFill>
                            <a:srgbClr val="17283F"/>
                          </a:solidFill>
                          <a:latin typeface="Malgun Gothic"/>
                          <a:ea typeface="Malgun Gothic"/>
                          <a:cs typeface="Malgun Gothic"/>
                        </a:rPr>
                        <a:t>F3 / Must</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LLM 생성 후 출력 재검사</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위험 출력은 MASK 또는 BLOCK</a:t>
                      </a:r>
                    </a:p>
                  </a:txBody>
                  <a:tcPr marL="91440" marR="91440" marT="45720" marB="45720">
                    <a:lnR w="9525">
                      <a:solidFill>
                        <a:srgbClr val="CDD7E1"/>
                      </a:solidFill>
                      <a:prstDash val="solid"/>
                    </a:lnR>
                    <a:lnB w="9525">
                      <a:solidFill>
                        <a:srgbClr val="CDD7E1"/>
                      </a:solidFill>
                      <a:prstDash val="solid"/>
                    </a:lnB>
                    <a:solidFill>
                      <a:srgbClr val="FFFFFF"/>
                    </a:solidFill>
                  </a:tcPr>
                </a:tc>
              </a:tr>
              <a:tr h="790575">
                <a:tc>
                  <a:txBody>
                    <a:bodyPr/>
                    <a:lstStyle/>
                    <a:p>
                      <a:r>
                        <a:rPr sz="1800" b="0">
                          <a:solidFill>
                            <a:srgbClr val="17283F"/>
                          </a:solidFill>
                          <a:latin typeface="Malgun Gothic"/>
                          <a:ea typeface="Malgun Gothic"/>
                          <a:cs typeface="Malgun Gothic"/>
                        </a:rPr>
                        <a:t>F4 / Should</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자동 사전 분석과 WARN 확인</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LLM 미호출, 상세 진단 Validator SKIPPED</a:t>
                      </a:r>
                    </a:p>
                  </a:txBody>
                  <a:tcPr marL="91440" marR="91440" marT="45720" marB="45720">
                    <a:lnR w="9525">
                      <a:solidFill>
                        <a:srgbClr val="CDD7E1"/>
                      </a:solidFill>
                      <a:prstDash val="solid"/>
                    </a:lnR>
                    <a:lnB w="9525">
                      <a:solidFill>
                        <a:srgbClr val="CDD7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1E9292E-A1EB-4299-B3D3-DC8B76259055}"/>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일반 사용자는 최소 결과만 받고, reason_code 등 상세 진단은 관리자 인증으로 분리한다. 탐지 누락 위험은 남는다.</a:t>
            </a:r>
          </a:p>
        </p:txBody>
      </p:sp>
    </p:spTree>
    <p:extLst>
      <p:ext uri="{BB962C8B-B14F-4D97-AF65-F5344CB8AC3E}">
        <p14:creationId xmlns:p14="http://schemas.microsoft.com/office/powerpoint/2010/main" val="820106694"/>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012ECB-888A-4201-B626-B5FBF57D578C}"/>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보안·비기능 요구사항</a:t>
            </a:r>
          </a:p>
        </p:txBody>
      </p:sp>
      <p:sp>
        <p:nvSpPr>
          <p:cNvPr id="2" name="">
            <a:extLst xmlns:a="http://schemas.openxmlformats.org/drawingml/2006/main">
              <a:ext uri="{FF2B5EF4-FFF2-40B4-BE49-F238E27FC236}">
                <a16:creationId xmlns:a16="http://schemas.microsoft.com/office/drawing/2014/main" id="{35D9612E-511B-401D-B023-DAB31CB67AD1}"/>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05</a:t>
            </a:r>
          </a:p>
        </p:txBody>
      </p:sp>
      <p:graphicFrame>
        <p:nvGraphicFramePr>
          <p:cNvPr id="3" name="">
            <a:extLst xmlns:a="http://schemas.openxmlformats.org/drawingml/2006/main">
              <a:ext uri="{FF2B5EF4-FFF2-40B4-BE49-F238E27FC236}">
                <a16:creationId xmlns:a16="http://schemas.microsoft.com/office/drawing/2014/main" id="{A0F1BBD0-FF8E-428D-A5F8-D1BE85B42C4E}"/>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2095500"/>
                <a:gridCol w="4286250"/>
                <a:gridCol w="4591050"/>
              </a:tblGrid>
              <a:tr h="800100">
                <a:tc>
                  <a:txBody>
                    <a:bodyPr/>
                    <a:lstStyle/>
                    <a:p>
                      <a:r>
                        <a:rPr sz="1725" b="1">
                          <a:solidFill>
                            <a:srgbClr val="FFFFFF"/>
                          </a:solidFill>
                          <a:latin typeface="Malgun Gothic"/>
                          <a:ea typeface="Malgun Gothic"/>
                          <a:cs typeface="Malgun Gothic"/>
                        </a:rPr>
                        <a:t>보호 대상</a:t>
                      </a:r>
                    </a:p>
                  </a:txBody>
                  <a:tcPr marL="91440" marR="91440" marT="45720" marB="45720">
                    <a:lnL w="9525">
                      <a:solidFill>
                        <a:srgbClr val="CDD7E1"/>
                      </a:solidFill>
                      <a:prstDash val="solid"/>
                    </a:lnL>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1725" b="1">
                          <a:solidFill>
                            <a:srgbClr val="FFFFFF"/>
                          </a:solidFill>
                          <a:latin typeface="Malgun Gothic"/>
                          <a:ea typeface="Malgun Gothic"/>
                          <a:cs typeface="Malgun Gothic"/>
                        </a:rPr>
                        <a:t>요구사항</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1725" b="1">
                          <a:solidFill>
                            <a:srgbClr val="FFFFFF"/>
                          </a:solidFill>
                          <a:latin typeface="Malgun Gothic"/>
                          <a:ea typeface="Malgun Gothic"/>
                          <a:cs typeface="Malgun Gothic"/>
                        </a:rPr>
                        <a:t>검증 / 한계</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r>
              <a:tr h="800100">
                <a:tc>
                  <a:txBody>
                    <a:bodyPr/>
                    <a:lstStyle/>
                    <a:p>
                      <a:r>
                        <a:rPr sz="1725" b="0">
                          <a:solidFill>
                            <a:srgbClr val="17283F"/>
                          </a:solidFill>
                          <a:latin typeface="Malgun Gothic"/>
                          <a:ea typeface="Malgun Gothic"/>
                          <a:cs typeface="Malgun Gothic"/>
                        </a:rPr>
                        <a:t>접근 권한</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일반 응답 최소화, 상세 진단 분리</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상세 API·SSE는 관리자 인증, RBAC 미구현</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725" b="0">
                          <a:solidFill>
                            <a:srgbClr val="17283F"/>
                          </a:solidFill>
                          <a:latin typeface="Malgun Gothic"/>
                          <a:ea typeface="Malgun Gothic"/>
                          <a:cs typeface="Malgun Gothic"/>
                        </a:rPr>
                        <a:t>감사 로그</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판정 메타데이터만 기록</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prompt·response·API key·PII 원문 미저장</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725" b="0">
                          <a:solidFill>
                            <a:srgbClr val="17283F"/>
                          </a:solidFill>
                          <a:latin typeface="Malgun Gothic"/>
                          <a:ea typeface="Malgun Gothic"/>
                          <a:cs typeface="Malgun Gothic"/>
                        </a:rPr>
                        <a:t>로그 무결성</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서명 인터페이스와 변조 검증</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Mock signer, 실제 ML-DSA 후속 과제</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725" b="0">
                          <a:solidFill>
                            <a:srgbClr val="17283F"/>
                          </a:solidFill>
                          <a:latin typeface="Malgun Gothic"/>
                          <a:ea typeface="Malgun Gothic"/>
                          <a:cs typeface="Malgun Gothic"/>
                        </a:rPr>
                        <a:t>응답 경로</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SSE도 전체 버퍼링 후 검증</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실시간 토큰 검증 아님, 지연·메모리 부담</a:t>
                      </a:r>
                    </a:p>
                  </a:txBody>
                  <a:tcPr marL="91440" marR="91440" marT="45720" marB="45720">
                    <a:lnR w="9525">
                      <a:solidFill>
                        <a:srgbClr val="CDD7E1"/>
                      </a:solidFill>
                      <a:prstDash val="solid"/>
                    </a:lnR>
                    <a:lnB w="9525">
                      <a:solidFill>
                        <a:srgbClr val="CDD7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A7D2A71-4987-4C93-B665-8FFABAAE8505}"/>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ML-DSA 교체 가능한 감사 로그 서명 인터페이스와 Mock signer 기반 검증 구조</a:t>
            </a:r>
          </a:p>
        </p:txBody>
      </p:sp>
    </p:spTree>
    <p:extLst>
      <p:ext uri="{BB962C8B-B14F-4D97-AF65-F5344CB8AC3E}">
        <p14:creationId xmlns:p14="http://schemas.microsoft.com/office/powerpoint/2010/main" val="952959351"/>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1400228-CABC-471D-B5DB-99100A519C86}"/>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구현·Mock·미구현 범위</a:t>
            </a:r>
          </a:p>
        </p:txBody>
      </p:sp>
      <p:sp>
        <p:nvSpPr>
          <p:cNvPr id="2" name="">
            <a:extLst xmlns:a="http://schemas.openxmlformats.org/drawingml/2006/main">
              <a:ext uri="{FF2B5EF4-FFF2-40B4-BE49-F238E27FC236}">
                <a16:creationId xmlns:a16="http://schemas.microsoft.com/office/drawing/2014/main" id="{3043B9EC-837A-471A-A5E5-4A45A3E02C93}"/>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06</a:t>
            </a:r>
          </a:p>
        </p:txBody>
      </p:sp>
      <p:graphicFrame>
        <p:nvGraphicFramePr>
          <p:cNvPr id="3" name="">
            <a:extLst xmlns:a="http://schemas.openxmlformats.org/drawingml/2006/main">
              <a:ext uri="{FF2B5EF4-FFF2-40B4-BE49-F238E27FC236}">
                <a16:creationId xmlns:a16="http://schemas.microsoft.com/office/drawing/2014/main" id="{9B8C5404-1D98-4B9B-8AF5-650AC2CAA638}"/>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2286000"/>
                <a:gridCol w="8686800"/>
              </a:tblGrid>
              <a:tr h="800100">
                <a:tc>
                  <a:txBody>
                    <a:bodyPr/>
                    <a:lstStyle/>
                    <a:p>
                      <a:r>
                        <a:rPr sz="1800" b="1">
                          <a:solidFill>
                            <a:srgbClr val="FFFFFF"/>
                          </a:solidFill>
                          <a:latin typeface="Malgun Gothic"/>
                          <a:ea typeface="Malgun Gothic"/>
                          <a:cs typeface="Malgun Gothic"/>
                        </a:rPr>
                        <a:t>구분</a:t>
                      </a:r>
                    </a:p>
                  </a:txBody>
                  <a:tcPr marL="91440" marR="91440" marT="45720" marB="45720">
                    <a:lnL w="9525">
                      <a:solidFill>
                        <a:srgbClr val="CDD7E1"/>
                      </a:solidFill>
                      <a:prstDash val="solid"/>
                    </a:lnL>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1800" b="1">
                          <a:solidFill>
                            <a:srgbClr val="FFFFFF"/>
                          </a:solidFill>
                          <a:latin typeface="Malgun Gothic"/>
                          <a:ea typeface="Malgun Gothic"/>
                          <a:cs typeface="Malgun Gothic"/>
                        </a:rPr>
                        <a:t>현재 범위</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r>
              <a:tr h="800100">
                <a:tc>
                  <a:txBody>
                    <a:bodyPr/>
                    <a:lstStyle/>
                    <a:p>
                      <a:r>
                        <a:rPr sz="1800" b="0">
                          <a:solidFill>
                            <a:srgbClr val="17283F"/>
                          </a:solidFill>
                          <a:latin typeface="Malgun Gothic"/>
                          <a:ea typeface="Malgun Gothic"/>
                          <a:cs typeface="Malgun Gothic"/>
                        </a:rPr>
                        <a:t>구현</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PII·인젝션, 정책·Validator·감사, 가입·로그인·채팅·관리자 UI</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800" b="0">
                          <a:solidFill>
                            <a:srgbClr val="17283F"/>
                          </a:solidFill>
                          <a:latin typeface="Malgun Gothic"/>
                          <a:ea typeface="Malgun Gothic"/>
                          <a:cs typeface="Malgun Gothic"/>
                        </a:rPr>
                        <a:t>구현 / 조건부</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Mock·OpenAI 어댑터. 실제 OpenAI API 호출은 미검증</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800" b="0">
                          <a:solidFill>
                            <a:srgbClr val="17283F"/>
                          </a:solidFill>
                          <a:latin typeface="Malgun Gothic"/>
                          <a:ea typeface="Malgun Gothic"/>
                          <a:cs typeface="Malgun Gothic"/>
                        </a:rPr>
                        <a:t>Mock</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Mock LLM 응답, HMAC-SHA256-MOCK 감사 signer</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800" b="0">
                          <a:solidFill>
                            <a:srgbClr val="17283F"/>
                          </a:solidFill>
                          <a:latin typeface="Malgun Gothic"/>
                          <a:ea typeface="Malgun Gothic"/>
                          <a:cs typeface="Malgun Gothic"/>
                        </a:rPr>
                        <a:t>미구현 / 후속</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실제 ML-DSA, 추가 Provider·자동 전환, 계정별 RBAC·멀티턴</a:t>
                      </a:r>
                    </a:p>
                  </a:txBody>
                  <a:tcPr marL="91440" marR="91440" marT="45720" marB="45720">
                    <a:lnR w="9525">
                      <a:solidFill>
                        <a:srgbClr val="CDD7E1"/>
                      </a:solidFill>
                      <a:prstDash val="solid"/>
                    </a:lnR>
                    <a:lnB w="9525">
                      <a:solidFill>
                        <a:srgbClr val="CDD7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27BA743-C896-4C11-9DFD-076459B989AF}"/>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채팅 기록은 화면 메모리에만 유지하며 이전 대화는 모델에 전달하지 않는다. 분류기 fallback은 완전한 Hybrid가 아니다.</a:t>
            </a:r>
          </a:p>
        </p:txBody>
      </p:sp>
    </p:spTree>
    <p:extLst>
      <p:ext uri="{BB962C8B-B14F-4D97-AF65-F5344CB8AC3E}">
        <p14:creationId xmlns:p14="http://schemas.microsoft.com/office/powerpoint/2010/main" val="1215361920"/>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24F7BE-64EA-44B4-A56B-5DCD85DE1054}"/>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작동 증빙: 사용자 채팅과 관리자 진단</a:t>
            </a:r>
          </a:p>
        </p:txBody>
      </p:sp>
      <p:sp>
        <p:nvSpPr>
          <p:cNvPr id="2" name="">
            <a:extLst xmlns:a="http://schemas.openxmlformats.org/drawingml/2006/main">
              <a:ext uri="{FF2B5EF4-FFF2-40B4-BE49-F238E27FC236}">
                <a16:creationId xmlns:a16="http://schemas.microsoft.com/office/drawing/2014/main" id="{54F5FCE4-8EF5-4BDB-856B-6A6DC7125E68}"/>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07</a:t>
            </a:r>
          </a:p>
        </p:txBody>
      </p:sp>
      <p:pic>
        <p:nvPicPr>
          <p:cNvPr id="3" name="">
            <a:extLst xmlns:a="http://schemas.openxmlformats.org/drawingml/2006/main">
              <a:ext uri="{FF2B5EF4-FFF2-40B4-BE49-F238E27FC236}">
                <a16:creationId xmlns:a16="http://schemas.microsoft.com/office/drawing/2014/main" id="{8D791703-2332-4E2D-A102-07B08FF92D22}"/>
              </a:ext>
            </a:extLst>
          </p:cNvPr>
          <p:cNvPicPr>
            <a:picLocks xmlns:a="http://schemas.openxmlformats.org/drawingml/2006/main" noChangeAspect="1"/>
          </p:cNvPicPr>
          <p:nvPr/>
        </p:nvPicPr>
        <p:blipFill>
          <a:blip xmlns:r="http://schemas.openxmlformats.org/officeDocument/2006/relationships" xmlns:a="http://schemas.openxmlformats.org/drawingml/2006/main" r:embed="R4bf2e6b7a77a4337"/>
          <a:srcRect xmlns:a="http://schemas.openxmlformats.org/drawingml/2006/main" l="0" t="0" r="0" b="0"/>
          <a:stretch xmlns:a="http://schemas.openxmlformats.org/drawingml/2006/main"/>
        </p:blipFill>
        <p:spPr>
          <a:xfrm xmlns:a="http://schemas.openxmlformats.org/drawingml/2006/main">
            <a:off x="609600" y="1857375"/>
            <a:ext cx="5257800" cy="3714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5A891E6-4B92-4D90-B756-44A57311F0C4}"/>
              </a:ext>
            </a:extLst>
          </p:cNvPr>
          <p:cNvSpPr>
            <a:spLocks xmlns:a="http://schemas.openxmlformats.org/drawingml/2006/main" noGrp="1"/>
          </p:cNvSpPr>
          <p:nvPr/>
        </p:nvSpPr>
        <p:spPr>
          <a:xfrm xmlns:a="http://schemas.openxmlformats.org/drawingml/2006/main">
            <a:off x="609600" y="13525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36A78"/>
                </a:solidFill>
                <a:latin typeface="Malgun Gothic"/>
                <a:ea typeface="Malgun Gothic"/>
                <a:cs typeface="Malgun Gothic"/>
              </a:defRPr>
            </a:defPPr>
          </a:lstStyle>
          <a:p xmlns:a="http://schemas.openxmlformats.org/drawingml/2006/main">
            <a:pPr>
              <a:buNone/>
              <a:defRPr sz="2100" b="1">
                <a:solidFill>
                  <a:srgbClr val="136A78"/>
                </a:solidFill>
                <a:latin typeface="Malgun Gothic"/>
                <a:ea typeface="Malgun Gothic"/>
                <a:cs typeface="Malgun Gothic"/>
              </a:defRPr>
            </a:pPr>
            <a:r>
              <a:rPr sz="2100" b="1">
                <a:solidFill>
                  <a:srgbClr val="136A78"/>
                </a:solidFill>
                <a:latin typeface="Malgun Gothic"/>
                <a:ea typeface="Malgun Gothic"/>
                <a:cs typeface="Malgun Gothic"/>
              </a:rPr>
              <a:t>사용자 채팅 /app</a:t>
            </a:r>
          </a:p>
        </p:txBody>
      </p:sp>
      <p:sp>
        <p:nvSpPr>
          <p:cNvPr id="5" name="">
            <a:extLst xmlns:a="http://schemas.openxmlformats.org/drawingml/2006/main">
              <a:ext uri="{FF2B5EF4-FFF2-40B4-BE49-F238E27FC236}">
                <a16:creationId xmlns:a16="http://schemas.microsoft.com/office/drawing/2014/main" id="{DBEC5B3A-C5DC-45CC-B285-B1C473CEFE06}"/>
              </a:ext>
            </a:extLst>
          </p:cNvPr>
          <p:cNvSpPr>
            <a:spLocks xmlns:a="http://schemas.openxmlformats.org/drawingml/2006/main" noGrp="1"/>
          </p:cNvSpPr>
          <p:nvPr/>
        </p:nvSpPr>
        <p:spPr>
          <a:xfrm xmlns:a="http://schemas.openxmlformats.org/drawingml/2006/main">
            <a:off x="6286500" y="13525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36A78"/>
                </a:solidFill>
                <a:latin typeface="Malgun Gothic"/>
                <a:ea typeface="Malgun Gothic"/>
                <a:cs typeface="Malgun Gothic"/>
              </a:defRPr>
            </a:defPPr>
          </a:lstStyle>
          <a:p xmlns:a="http://schemas.openxmlformats.org/drawingml/2006/main">
            <a:pPr>
              <a:buNone/>
              <a:defRPr sz="2100" b="1">
                <a:solidFill>
                  <a:srgbClr val="136A78"/>
                </a:solidFill>
                <a:latin typeface="Malgun Gothic"/>
                <a:ea typeface="Malgun Gothic"/>
                <a:cs typeface="Malgun Gothic"/>
              </a:defRPr>
            </a:pPr>
            <a:r>
              <a:rPr sz="2100" b="1">
                <a:solidFill>
                  <a:srgbClr val="136A78"/>
                </a:solidFill>
                <a:latin typeface="Malgun Gothic"/>
                <a:ea typeface="Malgun Gothic"/>
                <a:cs typeface="Malgun Gothic"/>
              </a:rPr>
              <a:t>관리자 진단 /admin</a:t>
            </a:r>
          </a:p>
        </p:txBody>
      </p:sp>
      <p:sp>
        <p:nvSpPr>
          <p:cNvPr id="6" name="">
            <a:extLst xmlns:a="http://schemas.openxmlformats.org/drawingml/2006/main">
              <a:ext uri="{FF2B5EF4-FFF2-40B4-BE49-F238E27FC236}">
                <a16:creationId xmlns:a16="http://schemas.microsoft.com/office/drawing/2014/main" id="{63CE892C-FC8A-4522-8B45-838C5999F77F}"/>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2026-10-12 저장 브라우저 증빙, 합성 계정·Mock 응답. UI의 TEAM ORCA 표기는 기존 화면 브랜딩이다.</a:t>
            </a:r>
          </a:p>
        </p:txBody>
      </p:sp>
      <p:pic>
        <p:nvPicPr>
          <p:cNvPr id="8" name="">
            <a:extLst xmlns:a="http://schemas.openxmlformats.org/drawingml/2006/main">
              <a:ext uri="{FF2B5EF4-FFF2-40B4-BE49-F238E27FC236}">
                <a16:creationId xmlns:a16="http://schemas.microsoft.com/office/drawing/2014/main" id="{4F314FF4-88EB-431F-9493-1CA8AF543E43}"/>
              </a:ext>
            </a:extLst>
          </p:cNvPr>
          <p:cNvPicPr>
            <a:picLocks xmlns:a="http://schemas.openxmlformats.org/drawingml/2006/main" noChangeAspect="1"/>
          </p:cNvPicPr>
          <p:nvPr/>
        </p:nvPicPr>
        <p:blipFill>
          <a:blip xmlns:r="http://schemas.openxmlformats.org/officeDocument/2006/relationships" xmlns:a="http://schemas.openxmlformats.org/drawingml/2006/main" r:embed="R09d753cea33c4a83"/>
          <a:stretch xmlns:a="http://schemas.openxmlformats.org/drawingml/2006/main"/>
        </p:blipFill>
        <p:spPr>
          <a:xfrm xmlns:a="http://schemas.openxmlformats.org/drawingml/2006/main">
            <a:off x="6439718" y="1857375"/>
            <a:ext cx="4951364" cy="3714750"/>
          </a:xfrm>
          <a:prstGeom xmlns:a="http://schemas.openxmlformats.org/drawingml/2006/main" prst="rect">
            <a:avLst/>
          </a:prstGeom>
        </p:spPr>
      </p:pic>
    </p:spTree>
    <p:extLst>
      <p:ext uri="{BB962C8B-B14F-4D97-AF65-F5344CB8AC3E}">
        <p14:creationId xmlns:p14="http://schemas.microsoft.com/office/powerpoint/2010/main" val="376805069"/>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C9DB394-4EBA-48B4-B511-7F60E71F3ED2}"/>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기능별 검증 증빙과 확인 범위</a:t>
            </a:r>
          </a:p>
        </p:txBody>
      </p:sp>
      <p:sp>
        <p:nvSpPr>
          <p:cNvPr id="2" name="">
            <a:extLst xmlns:a="http://schemas.openxmlformats.org/drawingml/2006/main">
              <a:ext uri="{FF2B5EF4-FFF2-40B4-BE49-F238E27FC236}">
                <a16:creationId xmlns:a16="http://schemas.microsoft.com/office/drawing/2014/main" id="{2443EB0D-8D42-4452-B5C7-6DA76D710A0E}"/>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08</a:t>
            </a:r>
          </a:p>
        </p:txBody>
      </p:sp>
      <p:graphicFrame>
        <p:nvGraphicFramePr>
          <p:cNvPr id="3" name="">
            <a:extLst xmlns:a="http://schemas.openxmlformats.org/drawingml/2006/main">
              <a:ext uri="{FF2B5EF4-FFF2-40B4-BE49-F238E27FC236}">
                <a16:creationId xmlns:a16="http://schemas.microsoft.com/office/drawing/2014/main" id="{ED65DD6D-60FC-4FB5-B873-1729563CCFD0}"/>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4857750"/>
                <a:gridCol w="4381500"/>
                <a:gridCol w="1733550"/>
              </a:tblGrid>
              <a:tr h="800100">
                <a:tc>
                  <a:txBody>
                    <a:bodyPr/>
                    <a:lstStyle/>
                    <a:p>
                      <a:r>
                        <a:rPr sz="1800" b="1">
                          <a:solidFill>
                            <a:srgbClr val="FFFFFF"/>
                          </a:solidFill>
                          <a:latin typeface="Malgun Gothic"/>
                          <a:ea typeface="Malgun Gothic"/>
                          <a:cs typeface="Malgun Gothic"/>
                        </a:rPr>
                        <a:t>검증 항목</a:t>
                      </a:r>
                    </a:p>
                  </a:txBody>
                  <a:tcPr marL="91440" marR="91440" marT="45720" marB="45720">
                    <a:lnL w="9525">
                      <a:solidFill>
                        <a:srgbClr val="CDD7E1"/>
                      </a:solidFill>
                      <a:prstDash val="solid"/>
                    </a:lnL>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1800" b="1">
                          <a:solidFill>
                            <a:srgbClr val="FFFFFF"/>
                          </a:solidFill>
                          <a:latin typeface="Malgun Gothic"/>
                          <a:ea typeface="Malgun Gothic"/>
                          <a:cs typeface="Malgun Gothic"/>
                        </a:rPr>
                        <a:t>출처 / 시점</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1800" b="1">
                          <a:solidFill>
                            <a:srgbClr val="FFFFFF"/>
                          </a:solidFill>
                          <a:latin typeface="Malgun Gothic"/>
                          <a:ea typeface="Malgun Gothic"/>
                          <a:cs typeface="Malgun Gothic"/>
                        </a:rPr>
                        <a:t>결과</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r>
              <a:tr h="800100">
                <a:tc>
                  <a:txBody>
                    <a:bodyPr/>
                    <a:lstStyle/>
                    <a:p>
                      <a:r>
                        <a:rPr sz="1800" b="0">
                          <a:solidFill>
                            <a:srgbClr val="17283F"/>
                          </a:solidFill>
                          <a:latin typeface="Malgun Gothic"/>
                          <a:ea typeface="Malgun Gothic"/>
                          <a:cs typeface="Malgun Gothic"/>
                        </a:rPr>
                        <a:t>사용자·관리자·보안 통합</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2026-10-12 통합 보고서</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205 통과</a:t>
                      </a:r>
                    </a:p>
                    <a:p>
                      <a:r>
                        <a:rPr sz="1800" b="0">
                          <a:solidFill>
                            <a:srgbClr val="17283F"/>
                          </a:solidFill>
                          <a:latin typeface="Malgun Gothic"/>
                          <a:ea typeface="Malgun Gothic"/>
                          <a:cs typeface="Malgun Gothic"/>
                        </a:rPr>
                        <a:t>1 제외</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800" b="0">
                          <a:solidFill>
                            <a:srgbClr val="17283F"/>
                          </a:solidFill>
                          <a:latin typeface="Malgun Gothic"/>
                          <a:ea typeface="Malgun Gothic"/>
                          <a:cs typeface="Malgun Gothic"/>
                        </a:rPr>
                        <a:t>프런트 비동기·채팅 회귀</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2026-10-13 직접 재실행</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30 통과</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800" b="0">
                          <a:solidFill>
                            <a:srgbClr val="17283F"/>
                          </a:solidFill>
                          <a:latin typeface="Malgun Gothic"/>
                          <a:ea typeface="Malgun Gothic"/>
                          <a:cs typeface="Malgun Gothic"/>
                        </a:rPr>
                        <a:t>사전 분석·Validator·감사·SSE</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2026-10-12 focused 실행 기록</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17 통과</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800" b="0">
                          <a:solidFill>
                            <a:srgbClr val="17283F"/>
                          </a:solidFill>
                          <a:latin typeface="Malgun Gothic"/>
                          <a:ea typeface="Malgun Gothic"/>
                          <a:cs typeface="Malgun Gothic"/>
                        </a:rPr>
                        <a:t>실제 OpenAI 호출·운영 부하</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이번 제출 검증 범위 밖</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미검증</a:t>
                      </a:r>
                    </a:p>
                  </a:txBody>
                  <a:tcPr marL="91440" marR="91440" marT="45720" marB="45720">
                    <a:lnR w="9525">
                      <a:solidFill>
                        <a:srgbClr val="CDD7E1"/>
                      </a:solidFill>
                      <a:prstDash val="solid"/>
                    </a:lnR>
                    <a:lnB w="9525">
                      <a:solidFill>
                        <a:srgbClr val="CDD7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48EFCB7-D469-4E22-8967-66F72A3D605E}"/>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pytest는 기존 검증 기록 인용이며 OpenAI live 테스트는 제외됐다. Node 회귀는 이번 개정에서 재실행했다.</a:t>
            </a:r>
          </a:p>
        </p:txBody>
      </p:sp>
    </p:spTree>
    <p:extLst>
      <p:ext uri="{BB962C8B-B14F-4D97-AF65-F5344CB8AC3E}">
        <p14:creationId xmlns:p14="http://schemas.microsoft.com/office/powerpoint/2010/main" val="2050626887"/>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056556-C8AA-401F-9988-F4C1A7DC4F0E}"/>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내부 회귀 평가 결과</a:t>
            </a:r>
          </a:p>
        </p:txBody>
      </p:sp>
      <p:sp>
        <p:nvSpPr>
          <p:cNvPr id="2" name="">
            <a:extLst xmlns:a="http://schemas.openxmlformats.org/drawingml/2006/main">
              <a:ext uri="{FF2B5EF4-FFF2-40B4-BE49-F238E27FC236}">
                <a16:creationId xmlns:a16="http://schemas.microsoft.com/office/drawing/2014/main" id="{EF1A72D4-6484-4CFC-971E-057C4F91AD48}"/>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09</a:t>
            </a:r>
          </a:p>
        </p:txBody>
      </p:sp>
      <p:sp>
        <p:nvSpPr>
          <p:cNvPr id="3" name="">
            <a:extLst xmlns:a="http://schemas.openxmlformats.org/drawingml/2006/main">
              <a:ext uri="{FF2B5EF4-FFF2-40B4-BE49-F238E27FC236}">
                <a16:creationId xmlns:a16="http://schemas.microsoft.com/office/drawing/2014/main" id="{325FDE67-6A62-46A4-A3B4-CEF8364FCB5C}"/>
              </a:ext>
            </a:extLst>
          </p:cNvPr>
          <p:cNvSpPr>
            <a:spLocks xmlns:a="http://schemas.openxmlformats.org/drawingml/2006/main" noGrp="1"/>
          </p:cNvSpPr>
          <p:nvPr/>
        </p:nvSpPr>
        <p:spPr>
          <a:xfrm xmlns:a="http://schemas.openxmlformats.org/drawingml/2006/main">
            <a:off x="609600" y="13906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36A78"/>
                </a:solidFill>
                <a:latin typeface="Malgun Gothic"/>
                <a:ea typeface="Malgun Gothic"/>
                <a:cs typeface="Malgun Gothic"/>
              </a:defRPr>
            </a:defPPr>
          </a:lstStyle>
          <a:p xmlns:a="http://schemas.openxmlformats.org/drawingml/2006/main">
            <a:pPr>
              <a:buNone/>
              <a:defRPr sz="2250" b="1">
                <a:solidFill>
                  <a:srgbClr val="136A78"/>
                </a:solidFill>
                <a:latin typeface="Malgun Gothic"/>
                <a:ea typeface="Malgun Gothic"/>
                <a:cs typeface="Malgun Gothic"/>
              </a:defRPr>
            </a:pPr>
            <a:r>
              <a:rPr sz="2250" b="1">
                <a:solidFill>
                  <a:srgbClr val="136A78"/>
                </a:solidFill>
                <a:latin typeface="Malgun Gothic"/>
                <a:ea typeface="Malgun Gothic"/>
                <a:cs typeface="Malgun Gothic"/>
              </a:rPr>
              <a:t>내부 회귀 113건, 기존 정책 동작 확인용</a:t>
            </a:r>
          </a:p>
        </p:txBody>
      </p:sp>
      <p:graphicFrame>
        <p:nvGraphicFramePr>
          <p:cNvPr id="4" name="">
            <a:extLst xmlns:a="http://schemas.openxmlformats.org/drawingml/2006/main">
              <a:ext uri="{FF2B5EF4-FFF2-40B4-BE49-F238E27FC236}">
                <a16:creationId xmlns:a16="http://schemas.microsoft.com/office/drawing/2014/main" id="{1C6C9F6D-0B6D-425F-955F-CA5F98064854}"/>
              </a:ext>
            </a:extLst>
          </p:cNvPr>
          <p:cNvGraphicFramePr/>
          <p:nvPr/>
        </p:nvGraphicFramePr>
        <p:xfrm>
          <a:off xmlns:a="http://schemas.openxmlformats.org/drawingml/2006/main" x="609600" y="2381250"/>
          <a:ext xmlns:a="http://schemas.openxmlformats.org/drawingml/2006/main" cx="10972800" cy="2238375"/>
        </p:xfrm>
        <a:graphic xmlns:a="http://schemas.openxmlformats.org/drawingml/2006/main">
          <a:graphicData uri="http://schemas.openxmlformats.org/drawingml/2006/table">
            <a:tbl>
              <a:tblPr/>
              <a:tblGrid>
                <a:gridCol w="4286250"/>
                <a:gridCol w="2228850"/>
                <a:gridCol w="2228850"/>
                <a:gridCol w="2228850"/>
              </a:tblGrid>
              <a:tr h="746125">
                <a:tc>
                  <a:txBody>
                    <a:bodyPr/>
                    <a:lstStyle/>
                    <a:p>
                      <a:r>
                        <a:rPr sz="2100" b="1">
                          <a:solidFill>
                            <a:srgbClr val="FFFFFF"/>
                          </a:solidFill>
                          <a:latin typeface="Malgun Gothic"/>
                          <a:ea typeface="Malgun Gothic"/>
                          <a:cs typeface="Malgun Gothic"/>
                        </a:rPr>
                        <a:t>검사 대상</a:t>
                      </a:r>
                    </a:p>
                  </a:txBody>
                  <a:tcPr marL="91440" marR="91440" marT="45720" marB="45720">
                    <a:lnL w="9525">
                      <a:solidFill>
                        <a:srgbClr val="CDD7E1"/>
                      </a:solidFill>
                      <a:prstDash val="solid"/>
                    </a:lnL>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2100" b="1">
                          <a:solidFill>
                            <a:srgbClr val="FFFFFF"/>
                          </a:solidFill>
                          <a:latin typeface="Malgun Gothic"/>
                          <a:ea typeface="Malgun Gothic"/>
                          <a:cs typeface="Malgun Gothic"/>
                        </a:rPr>
                        <a:t>Precision</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2100" b="1">
                          <a:solidFill>
                            <a:srgbClr val="FFFFFF"/>
                          </a:solidFill>
                          <a:latin typeface="Malgun Gothic"/>
                          <a:ea typeface="Malgun Gothic"/>
                          <a:cs typeface="Malgun Gothic"/>
                        </a:rPr>
                        <a:t>Recall</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2100" b="1">
                          <a:solidFill>
                            <a:srgbClr val="FFFFFF"/>
                          </a:solidFill>
                          <a:latin typeface="Malgun Gothic"/>
                          <a:ea typeface="Malgun Gothic"/>
                          <a:cs typeface="Malgun Gothic"/>
                        </a:rPr>
                        <a:t>F1</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r>
              <a:tr h="746125">
                <a:tc>
                  <a:txBody>
                    <a:bodyPr/>
                    <a:lstStyle/>
                    <a:p>
                      <a:r>
                        <a:rPr sz="2100" b="0">
                          <a:solidFill>
                            <a:srgbClr val="17283F"/>
                          </a:solidFill>
                          <a:latin typeface="Malgun Gothic"/>
                          <a:ea typeface="Malgun Gothic"/>
                          <a:cs typeface="Malgun Gothic"/>
                        </a:rPr>
                        <a:t>PII reason code</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2100" b="0">
                          <a:solidFill>
                            <a:srgbClr val="17283F"/>
                          </a:solidFill>
                          <a:latin typeface="Malgun Gothic"/>
                          <a:ea typeface="Malgun Gothic"/>
                          <a:cs typeface="Malgun Gothic"/>
                        </a:rPr>
                        <a:t>0.879</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2100" b="0">
                          <a:solidFill>
                            <a:srgbClr val="17283F"/>
                          </a:solidFill>
                          <a:latin typeface="Malgun Gothic"/>
                          <a:ea typeface="Malgun Gothic"/>
                          <a:cs typeface="Malgun Gothic"/>
                        </a:rPr>
                        <a:t>1.000</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2100" b="0">
                          <a:solidFill>
                            <a:srgbClr val="17283F"/>
                          </a:solidFill>
                          <a:latin typeface="Malgun Gothic"/>
                          <a:ea typeface="Malgun Gothic"/>
                          <a:cs typeface="Malgun Gothic"/>
                        </a:rPr>
                        <a:t>0.935</a:t>
                      </a:r>
                    </a:p>
                  </a:txBody>
                  <a:tcPr marL="91440" marR="91440" marT="45720" marB="45720">
                    <a:lnR w="9525">
                      <a:solidFill>
                        <a:srgbClr val="CDD7E1"/>
                      </a:solidFill>
                      <a:prstDash val="solid"/>
                    </a:lnR>
                    <a:lnB w="9525">
                      <a:solidFill>
                        <a:srgbClr val="CDD7E1"/>
                      </a:solidFill>
                      <a:prstDash val="solid"/>
                    </a:lnB>
                    <a:solidFill>
                      <a:srgbClr val="FFFFFF"/>
                    </a:solidFill>
                  </a:tcPr>
                </a:tc>
              </a:tr>
              <a:tr h="746125">
                <a:tc>
                  <a:txBody>
                    <a:bodyPr/>
                    <a:lstStyle/>
                    <a:p>
                      <a:r>
                        <a:rPr sz="2100" b="0">
                          <a:solidFill>
                            <a:srgbClr val="17283F"/>
                          </a:solidFill>
                          <a:latin typeface="Malgun Gothic"/>
                          <a:ea typeface="Malgun Gothic"/>
                          <a:cs typeface="Malgun Gothic"/>
                        </a:rPr>
                        <a:t>Injection reason code</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2100" b="0">
                          <a:solidFill>
                            <a:srgbClr val="17283F"/>
                          </a:solidFill>
                          <a:latin typeface="Malgun Gothic"/>
                          <a:ea typeface="Malgun Gothic"/>
                          <a:cs typeface="Malgun Gothic"/>
                        </a:rPr>
                        <a:t>0.852</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2100" b="0">
                          <a:solidFill>
                            <a:srgbClr val="17283F"/>
                          </a:solidFill>
                          <a:latin typeface="Malgun Gothic"/>
                          <a:ea typeface="Malgun Gothic"/>
                          <a:cs typeface="Malgun Gothic"/>
                        </a:rPr>
                        <a:t>1.000</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2100" b="0">
                          <a:solidFill>
                            <a:srgbClr val="17283F"/>
                          </a:solidFill>
                          <a:latin typeface="Malgun Gothic"/>
                          <a:ea typeface="Malgun Gothic"/>
                          <a:cs typeface="Malgun Gothic"/>
                        </a:rPr>
                        <a:t>0.920</a:t>
                      </a:r>
                    </a:p>
                  </a:txBody>
                  <a:tcPr marL="91440" marR="91440" marT="45720" marB="45720">
                    <a:lnR w="9525">
                      <a:solidFill>
                        <a:srgbClr val="CDD7E1"/>
                      </a:solidFill>
                      <a:prstDash val="solid"/>
                    </a:lnR>
                    <a:lnB w="9525">
                      <a:solidFill>
                        <a:srgbClr val="CDD7E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92513BF-E326-4203-8925-9EBCD00C1942}"/>
              </a:ext>
            </a:extLst>
          </p:cNvPr>
          <p:cNvSpPr>
            <a:spLocks xmlns:a="http://schemas.openxmlformats.org/drawingml/2006/main" noGrp="1"/>
          </p:cNvSpPr>
          <p:nvPr/>
        </p:nvSpPr>
        <p:spPr>
          <a:xfrm xmlns:a="http://schemas.openxmlformats.org/drawingml/2006/main">
            <a:off x="609600" y="4905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83F"/>
                </a:solidFill>
                <a:latin typeface="Malgun Gothic"/>
                <a:ea typeface="Malgun Gothic"/>
                <a:cs typeface="Malgun Gothic"/>
              </a:defRPr>
            </a:defPPr>
          </a:lstStyle>
          <a:p xmlns:a="http://schemas.openxmlformats.org/drawingml/2006/main">
            <a:pPr>
              <a:buNone/>
              <a:defRPr sz="2100" b="0">
                <a:solidFill>
                  <a:srgbClr val="17283F"/>
                </a:solidFill>
                <a:latin typeface="Malgun Gothic"/>
                <a:ea typeface="Malgun Gothic"/>
                <a:cs typeface="Malgun Gothic"/>
              </a:defRPr>
            </a:pPr>
            <a:r>
              <a:rPr sz="2100" b="0">
                <a:solidFill>
                  <a:srgbClr val="17283F"/>
                </a:solidFill>
                <a:latin typeface="Malgun Gothic"/>
                <a:ea typeface="Malgun Gothic"/>
                <a:cs typeface="Malgun Gothic"/>
              </a:rPr>
              <a:t>탐지 규칙과 함께 다듬은 내부 데이터다.</a:t>
            </a:r>
          </a:p>
          <a:p xmlns:a="http://schemas.openxmlformats.org/drawingml/2006/main">
            <a:pPr>
              <a:buNone/>
              <a:defRPr sz="2100" b="0">
                <a:solidFill>
                  <a:srgbClr val="17283F"/>
                </a:solidFill>
                <a:latin typeface="Malgun Gothic"/>
                <a:ea typeface="Malgun Gothic"/>
                <a:cs typeface="Malgun Gothic"/>
              </a:defRPr>
            </a:pPr>
            <a:r>
              <a:rPr sz="2100" b="0">
                <a:solidFill>
                  <a:srgbClr val="17283F"/>
                </a:solidFill>
                <a:latin typeface="Malgun Gothic"/>
                <a:ea typeface="Malgun Gothic"/>
                <a:cs typeface="Malgun Gothic"/>
              </a:rPr>
              <a:t>운영 환경의 일반화 성능으로 해석할 수 없다.</a:t>
            </a:r>
          </a:p>
        </p:txBody>
      </p:sp>
      <p:sp>
        <p:nvSpPr>
          <p:cNvPr id="6" name="">
            <a:extLst xmlns:a="http://schemas.openxmlformats.org/drawingml/2006/main">
              <a:ext uri="{FF2B5EF4-FFF2-40B4-BE49-F238E27FC236}">
                <a16:creationId xmlns:a16="http://schemas.microsoft.com/office/drawing/2014/main" id="{FDE690E4-47F5-4B79-8A05-115D84127D11}"/>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출처: reports/evaluation_report.md, 2026-07-28 기록. 이번 PPT 제작 중 탐지 성능 재평가는 수행하지 않았다.</a:t>
            </a:r>
          </a:p>
        </p:txBody>
      </p:sp>
    </p:spTree>
    <p:extLst>
      <p:ext uri="{BB962C8B-B14F-4D97-AF65-F5344CB8AC3E}">
        <p14:creationId xmlns:p14="http://schemas.microsoft.com/office/powerpoint/2010/main" val="1277303616"/>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7413B2-319C-4E5D-A7F6-61C1870985BB}"/>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외부 공개 평가와 일반화 한계</a:t>
            </a:r>
          </a:p>
        </p:txBody>
      </p:sp>
      <p:sp>
        <p:nvSpPr>
          <p:cNvPr id="2" name="">
            <a:extLst xmlns:a="http://schemas.openxmlformats.org/drawingml/2006/main">
              <a:ext uri="{FF2B5EF4-FFF2-40B4-BE49-F238E27FC236}">
                <a16:creationId xmlns:a16="http://schemas.microsoft.com/office/drawing/2014/main" id="{493560B8-9F03-4BEC-9276-7A9BBB984508}"/>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1F70C17B-8C98-4F77-8169-20DDE6F8EDEE}"/>
              </a:ext>
            </a:extLst>
          </p:cNvPr>
          <p:cNvSpPr>
            <a:spLocks xmlns:a="http://schemas.openxmlformats.org/drawingml/2006/main" noGrp="1"/>
          </p:cNvSpPr>
          <p:nvPr/>
        </p:nvSpPr>
        <p:spPr>
          <a:xfrm xmlns:a="http://schemas.openxmlformats.org/drawingml/2006/main">
            <a:off x="609600" y="13906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36A78"/>
                </a:solidFill>
                <a:latin typeface="Malgun Gothic"/>
                <a:ea typeface="Malgun Gothic"/>
                <a:cs typeface="Malgun Gothic"/>
              </a:defRPr>
            </a:defPPr>
          </a:lstStyle>
          <a:p xmlns:a="http://schemas.openxmlformats.org/drawingml/2006/main">
            <a:pPr>
              <a:buNone/>
              <a:defRPr sz="2250" b="1">
                <a:solidFill>
                  <a:srgbClr val="136A78"/>
                </a:solidFill>
                <a:latin typeface="Malgun Gothic"/>
                <a:ea typeface="Malgun Gothic"/>
                <a:cs typeface="Malgun Gothic"/>
              </a:defRPr>
            </a:pPr>
            <a:r>
              <a:rPr sz="2250" b="1">
                <a:solidFill>
                  <a:srgbClr val="136A78"/>
                </a:solidFill>
                <a:latin typeface="Malgun Gothic"/>
                <a:ea typeface="Malgun Gothic"/>
                <a:cs typeface="Malgun Gothic"/>
              </a:rPr>
              <a:t>deepset/prompt-injections, 전체 662건</a:t>
            </a:r>
          </a:p>
        </p:txBody>
      </p:sp>
      <p:graphicFrame>
        <p:nvGraphicFramePr>
          <p:cNvPr id="4" name="">
            <a:extLst xmlns:a="http://schemas.openxmlformats.org/drawingml/2006/main">
              <a:ext uri="{FF2B5EF4-FFF2-40B4-BE49-F238E27FC236}">
                <a16:creationId xmlns:a16="http://schemas.microsoft.com/office/drawing/2014/main" id="{F4405BF7-34C5-41B4-8E67-180A5D251B7F}"/>
              </a:ext>
            </a:extLst>
          </p:cNvPr>
          <p:cNvGraphicFramePr/>
          <p:nvPr/>
        </p:nvGraphicFramePr>
        <p:xfrm>
          <a:off xmlns:a="http://schemas.openxmlformats.org/drawingml/2006/main" x="609600" y="2381250"/>
          <a:ext xmlns:a="http://schemas.openxmlformats.org/drawingml/2006/main" cx="10972800" cy="1666875"/>
        </p:xfrm>
        <a:graphic xmlns:a="http://schemas.openxmlformats.org/drawingml/2006/main">
          <a:graphicData uri="http://schemas.openxmlformats.org/drawingml/2006/table">
            <a:tbl>
              <a:tblPr/>
              <a:tblGrid>
                <a:gridCol w="3657600"/>
                <a:gridCol w="3657600"/>
                <a:gridCol w="3657600"/>
              </a:tblGrid>
              <a:tr h="833438">
                <a:tc>
                  <a:txBody>
                    <a:bodyPr/>
                    <a:lstStyle/>
                    <a:p>
                      <a:r>
                        <a:rPr sz="2400" b="1">
                          <a:solidFill>
                            <a:srgbClr val="FFFFFF"/>
                          </a:solidFill>
                          <a:latin typeface="Malgun Gothic"/>
                          <a:ea typeface="Malgun Gothic"/>
                          <a:cs typeface="Malgun Gothic"/>
                        </a:rPr>
                        <a:t>Precision</a:t>
                      </a:r>
                    </a:p>
                  </a:txBody>
                  <a:tcPr marL="91440" marR="91440" marT="45720" marB="45720">
                    <a:lnL w="9525">
                      <a:solidFill>
                        <a:srgbClr val="CDD7E1"/>
                      </a:solidFill>
                      <a:prstDash val="solid"/>
                    </a:lnL>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2400" b="1">
                          <a:solidFill>
                            <a:srgbClr val="FFFFFF"/>
                          </a:solidFill>
                          <a:latin typeface="Malgun Gothic"/>
                          <a:ea typeface="Malgun Gothic"/>
                          <a:cs typeface="Malgun Gothic"/>
                        </a:rPr>
                        <a:t>Recall</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2400" b="1">
                          <a:solidFill>
                            <a:srgbClr val="FFFFFF"/>
                          </a:solidFill>
                          <a:latin typeface="Malgun Gothic"/>
                          <a:ea typeface="Malgun Gothic"/>
                          <a:cs typeface="Malgun Gothic"/>
                        </a:rPr>
                        <a:t>F1</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r>
              <a:tr h="833438">
                <a:tc>
                  <a:txBody>
                    <a:bodyPr/>
                    <a:lstStyle/>
                    <a:p>
                      <a:r>
                        <a:rPr sz="2400" b="0">
                          <a:solidFill>
                            <a:srgbClr val="17283F"/>
                          </a:solidFill>
                          <a:latin typeface="Malgun Gothic"/>
                          <a:ea typeface="Malgun Gothic"/>
                          <a:cs typeface="Malgun Gothic"/>
                        </a:rPr>
                        <a:t>1.0000</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2400" b="0">
                          <a:solidFill>
                            <a:srgbClr val="17283F"/>
                          </a:solidFill>
                          <a:latin typeface="Malgun Gothic"/>
                          <a:ea typeface="Malgun Gothic"/>
                          <a:cs typeface="Malgun Gothic"/>
                        </a:rPr>
                        <a:t>0.0760</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2400" b="0">
                          <a:solidFill>
                            <a:srgbClr val="17283F"/>
                          </a:solidFill>
                          <a:latin typeface="Malgun Gothic"/>
                          <a:ea typeface="Malgun Gothic"/>
                          <a:cs typeface="Malgun Gothic"/>
                        </a:rPr>
                        <a:t>0.1413</a:t>
                      </a:r>
                    </a:p>
                  </a:txBody>
                  <a:tcPr marL="91440" marR="91440" marT="45720" marB="45720">
                    <a:lnR w="9525">
                      <a:solidFill>
                        <a:srgbClr val="CDD7E1"/>
                      </a:solidFill>
                      <a:prstDash val="solid"/>
                    </a:lnR>
                    <a:lnB w="9525">
                      <a:solidFill>
                        <a:srgbClr val="CDD7E1"/>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6D16EB1-9A04-446F-B8C7-381753B8AE6F}"/>
              </a:ext>
            </a:extLst>
          </p:cNvPr>
          <p:cNvSpPr>
            <a:spLocks xmlns:a="http://schemas.openxmlformats.org/drawingml/2006/main" noGrp="1"/>
          </p:cNvSpPr>
          <p:nvPr/>
        </p:nvSpPr>
        <p:spPr>
          <a:xfrm xmlns:a="http://schemas.openxmlformats.org/drawingml/2006/main">
            <a:off x="609600" y="4429125"/>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83F"/>
                </a:solidFill>
                <a:latin typeface="Malgun Gothic"/>
                <a:ea typeface="Malgun Gothic"/>
                <a:cs typeface="Malgun Gothic"/>
              </a:defRPr>
            </a:defPPr>
          </a:lstStyle>
          <a:p xmlns:a="http://schemas.openxmlformats.org/drawingml/2006/main">
            <a:pPr>
              <a:buNone/>
              <a:defRPr sz="2100" b="0">
                <a:solidFill>
                  <a:srgbClr val="17283F"/>
                </a:solidFill>
                <a:latin typeface="Malgun Gothic"/>
                <a:ea typeface="Malgun Gothic"/>
                <a:cs typeface="Malgun Gothic"/>
              </a:defRPr>
            </a:pPr>
            <a:r>
              <a:rPr sz="2100" b="0">
                <a:solidFill>
                  <a:srgbClr val="17283F"/>
                </a:solidFill>
                <a:latin typeface="Malgun Gothic"/>
                <a:ea typeface="Malgun Gothic"/>
                <a:cs typeface="Malgun Gothic"/>
              </a:rPr>
              <a:t>영어 Prompt Injection에서 낮은 재현율이 확인됐다.</a:t>
            </a:r>
          </a:p>
          <a:p xmlns:a="http://schemas.openxmlformats.org/drawingml/2006/main">
            <a:pPr>
              <a:buNone/>
              <a:defRPr sz="2100" b="0">
                <a:solidFill>
                  <a:srgbClr val="17283F"/>
                </a:solidFill>
                <a:latin typeface="Malgun Gothic"/>
                <a:ea typeface="Malgun Gothic"/>
                <a:cs typeface="Malgun Gothic"/>
              </a:defRPr>
            </a:pPr>
            <a:r>
              <a:rPr sz="2100" b="0">
                <a:solidFill>
                  <a:srgbClr val="17283F"/>
                </a:solidFill>
                <a:latin typeface="Malgun Gothic"/>
                <a:ea typeface="Malgun Gothic"/>
                <a:cs typeface="Malgun Gothic"/>
              </a:rPr>
              <a:t>PII 평가·내부 회귀·external-tuned 결과와 분리한다.</a:t>
            </a:r>
          </a:p>
        </p:txBody>
      </p:sp>
      <p:sp>
        <p:nvSpPr>
          <p:cNvPr id="6" name="">
            <a:extLst xmlns:a="http://schemas.openxmlformats.org/drawingml/2006/main">
              <a:ext uri="{FF2B5EF4-FFF2-40B4-BE49-F238E27FC236}">
                <a16:creationId xmlns:a16="http://schemas.microsoft.com/office/drawing/2014/main" id="{D1BED0EA-F351-40E4-9467-59A370B9DE2C}"/>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출처: reports/external_prompt_injection_report.md의 기존 결과. 한국어 공공기관 운영 성능으로 일반화 불가.</a:t>
            </a:r>
          </a:p>
        </p:txBody>
      </p:sp>
    </p:spTree>
    <p:extLst>
      <p:ext uri="{BB962C8B-B14F-4D97-AF65-F5344CB8AC3E}">
        <p14:creationId xmlns:p14="http://schemas.microsoft.com/office/powerpoint/2010/main" val="37487208"/>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F21897-4AA4-4E33-A2ED-24CDD08CF52A}"/>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이번 MVP의 범위 제외 목록</a:t>
            </a:r>
          </a:p>
        </p:txBody>
      </p:sp>
      <p:sp>
        <p:nvSpPr>
          <p:cNvPr id="2" name="">
            <a:extLst xmlns:a="http://schemas.openxmlformats.org/drawingml/2006/main">
              <a:ext uri="{FF2B5EF4-FFF2-40B4-BE49-F238E27FC236}">
                <a16:creationId xmlns:a16="http://schemas.microsoft.com/office/drawing/2014/main" id="{6DD983EB-C9D2-4FAE-8243-BFD0A4A4DC0B}"/>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11</a:t>
            </a:r>
          </a:p>
        </p:txBody>
      </p:sp>
      <p:graphicFrame>
        <p:nvGraphicFramePr>
          <p:cNvPr id="3" name="">
            <a:extLst xmlns:a="http://schemas.openxmlformats.org/drawingml/2006/main">
              <a:ext uri="{FF2B5EF4-FFF2-40B4-BE49-F238E27FC236}">
                <a16:creationId xmlns:a16="http://schemas.microsoft.com/office/drawing/2014/main" id="{F394D833-8B4B-4C44-A709-607575B38F05}"/>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4286250"/>
                <a:gridCol w="6686550"/>
              </a:tblGrid>
              <a:tr h="800100">
                <a:tc>
                  <a:txBody>
                    <a:bodyPr/>
                    <a:lstStyle/>
                    <a:p>
                      <a:r>
                        <a:rPr sz="1800" b="1">
                          <a:solidFill>
                            <a:srgbClr val="FFFFFF"/>
                          </a:solidFill>
                          <a:latin typeface="Malgun Gothic"/>
                          <a:ea typeface="Malgun Gothic"/>
                          <a:cs typeface="Malgun Gothic"/>
                        </a:rPr>
                        <a:t>제외 범위</a:t>
                      </a:r>
                    </a:p>
                  </a:txBody>
                  <a:tcPr marL="91440" marR="91440" marT="45720" marB="45720">
                    <a:lnL w="9525">
                      <a:solidFill>
                        <a:srgbClr val="CDD7E1"/>
                      </a:solidFill>
                      <a:prstDash val="solid"/>
                    </a:lnL>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1800" b="1">
                          <a:solidFill>
                            <a:srgbClr val="FFFFFF"/>
                          </a:solidFill>
                          <a:latin typeface="Malgun Gothic"/>
                          <a:ea typeface="Malgun Gothic"/>
                          <a:cs typeface="Malgun Gothic"/>
                        </a:rPr>
                        <a:t>이유 / 재검토 조건</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r>
              <a:tr h="800100">
                <a:tc>
                  <a:txBody>
                    <a:bodyPr/>
                    <a:lstStyle/>
                    <a:p>
                      <a:r>
                        <a:rPr sz="1800" b="0">
                          <a:solidFill>
                            <a:srgbClr val="17283F"/>
                          </a:solidFill>
                          <a:latin typeface="Malgun Gothic"/>
                          <a:ea typeface="Malgun Gothic"/>
                          <a:cs typeface="Malgun Gothic"/>
                        </a:rPr>
                        <a:t>범용 jailbreak·간접 RAG 공격 완전 방어</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우선 대상은 한국어 업무 시나리오. 별도 공격 평가 필요</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800" b="0">
                          <a:solidFill>
                            <a:srgbClr val="17283F"/>
                          </a:solidFill>
                          <a:latin typeface="Malgun Gothic"/>
                          <a:ea typeface="Malgun Gothic"/>
                          <a:cs typeface="Malgun Gothic"/>
                        </a:rPr>
                        <a:t>실제 ML-DSA와 PQC TLS</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현재 Mock 구조. 키 관리·비용 평가 후 도입 검토</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800" b="0">
                          <a:solidFill>
                            <a:srgbClr val="17283F"/>
                          </a:solidFill>
                          <a:latin typeface="Malgun Gothic"/>
                          <a:ea typeface="Malgun Gothic"/>
                          <a:cs typeface="Malgun Gothic"/>
                        </a:rPr>
                        <a:t>다중 Provider 자동 전환</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기관 allowlist·전송 동의·감사 정책 마련 필요</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800" b="0">
                          <a:solidFill>
                            <a:srgbClr val="17283F"/>
                          </a:solidFill>
                          <a:latin typeface="Malgun Gothic"/>
                          <a:ea typeface="Malgun Gothic"/>
                          <a:cs typeface="Malgun Gothic"/>
                        </a:rPr>
                        <a:t>운영 배포와 성능 보장</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800" b="0">
                          <a:solidFill>
                            <a:srgbClr val="17283F"/>
                          </a:solidFill>
                          <a:latin typeface="Malgun Gothic"/>
                          <a:ea typeface="Malgun Gothic"/>
                          <a:cs typeface="Malgun Gothic"/>
                        </a:rPr>
                        <a:t>부하·보존·secret·세션 운영 검증과 고객 검증 필요</a:t>
                      </a:r>
                    </a:p>
                  </a:txBody>
                  <a:tcPr marL="91440" marR="91440" marT="45720" marB="45720">
                    <a:lnR w="9525">
                      <a:solidFill>
                        <a:srgbClr val="CDD7E1"/>
                      </a:solidFill>
                      <a:prstDash val="solid"/>
                    </a:lnR>
                    <a:lnB w="9525">
                      <a:solidFill>
                        <a:srgbClr val="CDD7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CF500BD-D67A-49B1-9E64-ED202A2FE801}"/>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실제 멀티턴·공유 세션·중복 요청 방지도 미구현. Validator 독립 성능과 SSE 버퍼링 비용은 후속 평가다.</a:t>
            </a:r>
          </a:p>
        </p:txBody>
      </p:sp>
    </p:spTree>
    <p:extLst>
      <p:ext uri="{BB962C8B-B14F-4D97-AF65-F5344CB8AC3E}">
        <p14:creationId xmlns:p14="http://schemas.microsoft.com/office/powerpoint/2010/main" val="1521511976"/>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5B6431B-7981-47EA-9F09-32BE82BE2753}"/>
              </a:ext>
            </a:extLst>
          </p:cNvPr>
          <p:cNvSpPr>
            <a:spLocks xmlns:a="http://schemas.openxmlformats.org/drawingml/2006/main" noGrp="1"/>
          </p:cNvSpPr>
          <p:nvPr/>
        </p:nvSpPr>
        <p:spPr>
          <a:xfrm xmlns:a="http://schemas.openxmlformats.org/drawingml/2006/main">
            <a:off x="609600" y="45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7283F"/>
                </a:solidFill>
                <a:latin typeface="Malgun Gothic"/>
                <a:ea typeface="Malgun Gothic"/>
                <a:cs typeface="Malgun Gothic"/>
              </a:defRPr>
            </a:defPPr>
          </a:lstStyle>
          <a:p xmlns:a="http://schemas.openxmlformats.org/drawingml/2006/main">
            <a:pPr>
              <a:buNone/>
              <a:defRPr sz="3150" b="1">
                <a:solidFill>
                  <a:srgbClr val="17283F"/>
                </a:solidFill>
                <a:latin typeface="Malgun Gothic"/>
                <a:ea typeface="Malgun Gothic"/>
                <a:cs typeface="Malgun Gothic"/>
              </a:defRPr>
            </a:pPr>
            <a:r>
              <a:rPr sz="3150" b="1">
                <a:solidFill>
                  <a:srgbClr val="17283F"/>
                </a:solidFill>
                <a:latin typeface="Malgun Gothic"/>
                <a:ea typeface="Malgun Gothic"/>
                <a:cs typeface="Malgun Gothic"/>
              </a:rPr>
              <a:t>미확인 가설과 다음 실행 계획</a:t>
            </a:r>
          </a:p>
        </p:txBody>
      </p:sp>
      <p:sp>
        <p:nvSpPr>
          <p:cNvPr id="2" name="">
            <a:extLst xmlns:a="http://schemas.openxmlformats.org/drawingml/2006/main">
              <a:ext uri="{FF2B5EF4-FFF2-40B4-BE49-F238E27FC236}">
                <a16:creationId xmlns:a16="http://schemas.microsoft.com/office/drawing/2014/main" id="{4E6A1900-B155-4AC6-83D3-71AD57F02521}"/>
              </a:ext>
            </a:extLst>
          </p:cNvPr>
          <p:cNvSpPr>
            <a:spLocks xmlns:a="http://schemas.openxmlformats.org/drawingml/2006/main" noGrp="1"/>
          </p:cNvSpPr>
          <p:nvPr/>
        </p:nvSpPr>
        <p:spPr>
          <a:xfrm xmlns:a="http://schemas.openxmlformats.org/drawingml/2006/main">
            <a:off x="11049000" y="622935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B"/>
                </a:solidFill>
                <a:latin typeface="Malgun Gothic"/>
                <a:ea typeface="Malgun Gothic"/>
                <a:cs typeface="Malgun Gothic"/>
              </a:defRPr>
            </a:defPPr>
          </a:lstStyle>
          <a:p xmlns:a="http://schemas.openxmlformats.org/drawingml/2006/main">
            <a:pPr>
              <a:buNone/>
              <a:defRPr sz="1350" b="0">
                <a:solidFill>
                  <a:srgbClr val="53657B"/>
                </a:solidFill>
                <a:latin typeface="Malgun Gothic"/>
                <a:ea typeface="Malgun Gothic"/>
                <a:cs typeface="Malgun Gothic"/>
              </a:defRPr>
            </a:pPr>
            <a:r>
              <a:rPr sz="1350" b="0">
                <a:solidFill>
                  <a:srgbClr val="53657B"/>
                </a:solidFill>
                <a:latin typeface="Malgun Gothic"/>
                <a:ea typeface="Malgun Gothic"/>
                <a:cs typeface="Malgun Gothic"/>
              </a:rPr>
              <a:t>12</a:t>
            </a:r>
          </a:p>
        </p:txBody>
      </p:sp>
      <p:graphicFrame>
        <p:nvGraphicFramePr>
          <p:cNvPr id="3" name="">
            <a:extLst xmlns:a="http://schemas.openxmlformats.org/drawingml/2006/main">
              <a:ext uri="{FF2B5EF4-FFF2-40B4-BE49-F238E27FC236}">
                <a16:creationId xmlns:a16="http://schemas.microsoft.com/office/drawing/2014/main" id="{5D2F9828-DBB8-4460-B909-8E146B0A2CCA}"/>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5048250"/>
                <a:gridCol w="2190750"/>
                <a:gridCol w="3733800"/>
              </a:tblGrid>
              <a:tr h="800100">
                <a:tc>
                  <a:txBody>
                    <a:bodyPr/>
                    <a:lstStyle/>
                    <a:p>
                      <a:r>
                        <a:rPr sz="1725" b="1">
                          <a:solidFill>
                            <a:srgbClr val="FFFFFF"/>
                          </a:solidFill>
                          <a:latin typeface="Malgun Gothic"/>
                          <a:ea typeface="Malgun Gothic"/>
                          <a:cs typeface="Malgun Gothic"/>
                        </a:rPr>
                        <a:t>확인할 가설 / 행동</a:t>
                      </a:r>
                    </a:p>
                  </a:txBody>
                  <a:tcPr marL="91440" marR="91440" marT="45720" marB="45720">
                    <a:lnL w="9525">
                      <a:solidFill>
                        <a:srgbClr val="CDD7E1"/>
                      </a:solidFill>
                      <a:prstDash val="solid"/>
                    </a:lnL>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1725" b="1">
                          <a:solidFill>
                            <a:srgbClr val="FFFFFF"/>
                          </a:solidFill>
                          <a:latin typeface="Malgun Gothic"/>
                          <a:ea typeface="Malgun Gothic"/>
                          <a:cs typeface="Malgun Gothic"/>
                        </a:rPr>
                        <a:t>역할 제안</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c>
                  <a:txBody>
                    <a:bodyPr/>
                    <a:lstStyle/>
                    <a:p>
                      <a:r>
                        <a:rPr sz="1725" b="1">
                          <a:solidFill>
                            <a:srgbClr val="FFFFFF"/>
                          </a:solidFill>
                          <a:latin typeface="Malgun Gothic"/>
                          <a:ea typeface="Malgun Gothic"/>
                          <a:cs typeface="Malgun Gothic"/>
                        </a:rPr>
                        <a:t>완료조건</a:t>
                      </a:r>
                    </a:p>
                  </a:txBody>
                  <a:tcPr marL="91440" marR="91440" marT="45720" marB="45720">
                    <a:lnR w="9525">
                      <a:solidFill>
                        <a:srgbClr val="CDD7E1"/>
                      </a:solidFill>
                      <a:prstDash val="solid"/>
                    </a:lnR>
                    <a:lnT w="9525">
                      <a:solidFill>
                        <a:srgbClr val="CDD7E1"/>
                      </a:solidFill>
                      <a:prstDash val="solid"/>
                    </a:lnT>
                    <a:lnB w="9525">
                      <a:solidFill>
                        <a:srgbClr val="CDD7E1"/>
                      </a:solidFill>
                      <a:prstDash val="solid"/>
                    </a:lnB>
                    <a:solidFill>
                      <a:srgbClr val="17283F"/>
                    </a:solidFill>
                  </a:tcPr>
                </a:tc>
              </a:tr>
              <a:tr h="800100">
                <a:tc>
                  <a:txBody>
                    <a:bodyPr/>
                    <a:lstStyle/>
                    <a:p>
                      <a:r>
                        <a:rPr sz="1725" b="0">
                          <a:solidFill>
                            <a:srgbClr val="17283F"/>
                          </a:solidFill>
                          <a:latin typeface="Malgun Gothic"/>
                          <a:ea typeface="Malgun Gothic"/>
                          <a:cs typeface="Malgun Gothic"/>
                        </a:rPr>
                        <a:t>업무 문장 마스킹 후에도 요약에 유용한가</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QA·통합</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비식별 시나리오로 사용자 피드백 기록</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725" b="0">
                          <a:solidFill>
                            <a:srgbClr val="17283F"/>
                          </a:solidFill>
                          <a:latin typeface="Malgun Gothic"/>
                          <a:ea typeface="Malgun Gothic"/>
                          <a:cs typeface="Malgun Gothic"/>
                        </a:rPr>
                        <a:t>오탐·미탐과 임계값을 수용할 수 있는가</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정책·탐지</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오류 사례별 근거와 수정 후보 정리</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725" b="0">
                          <a:solidFill>
                            <a:srgbClr val="17283F"/>
                          </a:solidFill>
                          <a:latin typeface="Malgun Gothic"/>
                          <a:ea typeface="Malgun Gothic"/>
                          <a:cs typeface="Malgun Gothic"/>
                        </a:rPr>
                        <a:t>지연과 버퍼링 비용이 허용 가능한가</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성능·증빙</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동일 조건으로 latency·메모리 기록</a:t>
                      </a:r>
                    </a:p>
                  </a:txBody>
                  <a:tcPr marL="91440" marR="91440" marT="45720" marB="45720">
                    <a:lnR w="9525">
                      <a:solidFill>
                        <a:srgbClr val="CDD7E1"/>
                      </a:solidFill>
                      <a:prstDash val="solid"/>
                    </a:lnR>
                    <a:lnB w="9525">
                      <a:solidFill>
                        <a:srgbClr val="CDD7E1"/>
                      </a:solidFill>
                      <a:prstDash val="solid"/>
                    </a:lnB>
                    <a:solidFill>
                      <a:srgbClr val="FFFFFF"/>
                    </a:solidFill>
                  </a:tcPr>
                </a:tc>
              </a:tr>
              <a:tr h="800100">
                <a:tc>
                  <a:txBody>
                    <a:bodyPr/>
                    <a:lstStyle/>
                    <a:p>
                      <a:r>
                        <a:rPr sz="1725" b="0">
                          <a:solidFill>
                            <a:srgbClr val="17283F"/>
                          </a:solidFill>
                          <a:latin typeface="Malgun Gothic"/>
                          <a:ea typeface="Malgun Gothic"/>
                          <a:cs typeface="Malgun Gothic"/>
                        </a:rPr>
                        <a:t>권한·Provider 오류 경계가 명확한가</a:t>
                      </a:r>
                    </a:p>
                  </a:txBody>
                  <a:tcPr marL="91440" marR="91440" marT="45720" marB="45720">
                    <a:lnL w="9525">
                      <a:solidFill>
                        <a:srgbClr val="CDD7E1"/>
                      </a:solidFill>
                      <a:prstDash val="solid"/>
                    </a:lnL>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게이트웨이</a:t>
                      </a:r>
                    </a:p>
                  </a:txBody>
                  <a:tcPr marL="91440" marR="91440" marT="45720" marB="45720">
                    <a:lnR w="9525">
                      <a:solidFill>
                        <a:srgbClr val="CDD7E1"/>
                      </a:solidFill>
                      <a:prstDash val="solid"/>
                    </a:lnR>
                    <a:lnB w="9525">
                      <a:solidFill>
                        <a:srgbClr val="CDD7E1"/>
                      </a:solidFill>
                      <a:prstDash val="solid"/>
                    </a:lnB>
                    <a:solidFill>
                      <a:srgbClr val="FFFFFF"/>
                    </a:solidFill>
                  </a:tcPr>
                </a:tc>
                <a:tc>
                  <a:txBody>
                    <a:bodyPr/>
                    <a:lstStyle/>
                    <a:p>
                      <a:r>
                        <a:rPr sz="1725" b="0">
                          <a:solidFill>
                            <a:srgbClr val="17283F"/>
                          </a:solidFill>
                          <a:latin typeface="Malgun Gothic"/>
                          <a:ea typeface="Malgun Gothic"/>
                          <a:cs typeface="Malgun Gothic"/>
                        </a:rPr>
                        <a:t>오류와 정책 차단을 분리한 재현 증빙</a:t>
                      </a:r>
                    </a:p>
                  </a:txBody>
                  <a:tcPr marL="91440" marR="91440" marT="45720" marB="45720">
                    <a:lnR w="9525">
                      <a:solidFill>
                        <a:srgbClr val="CDD7E1"/>
                      </a:solidFill>
                      <a:prstDash val="solid"/>
                    </a:lnR>
                    <a:lnB w="9525">
                      <a:solidFill>
                        <a:srgbClr val="CDD7E1"/>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AEA128-3256-4010-8BBE-E3A3C8A40684}"/>
              </a:ext>
            </a:extLst>
          </p:cNvPr>
          <p:cNvSpPr>
            <a:spLocks xmlns:a="http://schemas.openxmlformats.org/drawingml/2006/main" noGrp="1"/>
          </p:cNvSpPr>
          <p:nvPr/>
        </p:nvSpPr>
        <p:spPr>
          <a:xfrm xmlns:a="http://schemas.openxmlformats.org/drawingml/2006/main">
            <a:off x="609600" y="566737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3657B"/>
                </a:solidFill>
                <a:latin typeface="Malgun Gothic"/>
                <a:ea typeface="Malgun Gothic"/>
                <a:cs typeface="Malgun Gothic"/>
              </a:defRPr>
            </a:defPPr>
          </a:lstStyle>
          <a:p xmlns:a="http://schemas.openxmlformats.org/drawingml/2006/main">
            <a:pPr>
              <a:buNone/>
              <a:defRPr sz="1500" b="0">
                <a:solidFill>
                  <a:srgbClr val="53657B"/>
                </a:solidFill>
                <a:latin typeface="Malgun Gothic"/>
                <a:ea typeface="Malgun Gothic"/>
                <a:cs typeface="Malgun Gothic"/>
              </a:defRPr>
            </a:pPr>
            <a:r>
              <a:rPr sz="1500" b="0">
                <a:solidFill>
                  <a:srgbClr val="53657B"/>
                </a:solidFill>
                <a:latin typeface="Malgun Gothic"/>
                <a:ea typeface="Malgun Gothic"/>
                <a:cs typeface="Malgun Gothic"/>
              </a:rPr>
              <a:t>목요일 멘토링에서 범위와 완료조건을 확정한다. 개인 담당·기한은 팀 합의 후 배정한다.</a:t>
            </a:r>
          </a:p>
        </p:txBody>
      </p:sp>
    </p:spTree>
    <p:extLst>
      <p:ext uri="{BB962C8B-B14F-4D97-AF65-F5344CB8AC3E}">
        <p14:creationId xmlns:p14="http://schemas.microsoft.com/office/powerpoint/2010/main" val="958295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2026-10-13T07:10:34.3340000Z</dcterms:created>
  <dcterms:modified xsi:type="dcterms:W3CDTF">2026-10-13T07:10:34.3340000Z</dcterms:modified>
</coreProperties>
</file>