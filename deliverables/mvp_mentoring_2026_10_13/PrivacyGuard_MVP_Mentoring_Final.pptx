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heme" Target="theme/theme1.xml"  /><Relationship Id="rId11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presProps" Target="presProps.xml"  /><Relationship Id="rId9" Type="http://schemas.openxmlformats.org/officeDocument/2006/relationships/viewProps" Target="view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Relationship Id="rId3" Type="http://schemas.openxmlformats.org/officeDocument/2006/relationships/image" Target="../media/image10.png"  /><Relationship Id="rId4" Type="http://schemas.openxmlformats.org/officeDocument/2006/relationships/image" Target="../media/image11.png"  /><Relationship Id="rId5" Type="http://schemas.openxmlformats.org/officeDocument/2006/relationships/image" Target="../media/image1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.png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Relationship Id="rId5" Type="http://schemas.openxmlformats.org/officeDocument/2006/relationships/image" Target="../media/image16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7.png"  /><Relationship Id="rId3" Type="http://schemas.openxmlformats.org/officeDocument/2006/relationships/image" Target="../media/image18.png"  /><Relationship Id="rId4" Type="http://schemas.openxmlformats.org/officeDocument/2006/relationships/image" Target="../media/image19.png"  /><Relationship Id="rId5" Type="http://schemas.openxmlformats.org/officeDocument/2006/relationships/image" Target="../media/image20.png"  /><Relationship Id="rId6" Type="http://schemas.openxmlformats.org/officeDocument/2006/relationships/image" Target="../media/image2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09492" y="2048916"/>
            <a:ext cx="3172866" cy="285750"/>
          </a:xfrm>
          <a:prstGeom prst="roundRect">
            <a:avLst>
              <a:gd name="adj" fmla="val 50000"/>
            </a:avLst>
          </a:prstGeom>
          <a:solidFill>
            <a:srgbClr val="132651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/>
              <a:t>프라이버시가드</a:t>
            </a: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158132" y="2563266"/>
            <a:ext cx="5875734" cy="1188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b="1" sz="3900" i="0" u="none">
                <a:solidFill>
                  <a:srgbClr val="FFFFFF"/>
                </a:solidFill>
                <a:latin typeface="Pretendard"/>
              </a:rPr>
              <a:t>LLM 보안 프록시</a:t>
            </a:r>
            <a:r>
              <a:t>
</a:t>
            </a:r>
            <a:r>
              <a:rPr b="1" sz="3900" i="0" u="none">
                <a:solidFill>
                  <a:srgbClr val="38BDF8"/>
                </a:solidFill>
                <a:latin typeface="Pretendard"/>
              </a:rPr>
              <a:t>MVP 범위 및 요구사항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19375" y="3942308"/>
            <a:ext cx="6953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Pretendard"/>
              </a:rPr>
              <a:t>공공기관·사내망에서 개인정보 유출과 프롬프트 인젝션을 방지하는 사용 흐름</a:t>
            </a: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20330"/>
            <a:ext cx="10972800" cy="2718494"/>
          </a:xfrm>
          <a:prstGeom prst="roundRect">
            <a:avLst>
              <a:gd name="adj" fmla="val 4204"/>
            </a:avLst>
          </a:prstGeom>
          <a:solidFill>
            <a:srgbClr val="FFFBEB"/>
          </a:solidFill>
          <a:ln w="9525">
            <a:solidFill>
              <a:srgbClr val="FE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6029325"/>
            <a:ext cx="10972800" cy="447675"/>
          </a:xfrm>
          <a:prstGeom prst="roundRect">
            <a:avLst>
              <a:gd name="adj" fmla="val 1702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88590"/>
            <a:ext cx="1258341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159633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3400" y="159633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77200" y="159633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88220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596330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596330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05275" y="1596330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88220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96330"/>
            <a:ext cx="350520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596330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39075" y="1596330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7200" y="288220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7200" y="1596330"/>
            <a:ext cx="35052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7200" y="1596330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572875" y="1596330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77505"/>
            <a:ext cx="180975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1882080"/>
            <a:ext cx="22860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25" y="1882080"/>
            <a:ext cx="180975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425" y="1882080"/>
            <a:ext cx="180975" cy="1809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86975" y="426690"/>
            <a:ext cx="1869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retendard"/>
              </a:rPr>
              <a:t>TEAM PRIVACY GUARD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1167705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Pretendard"/>
              </a:rPr>
              <a:t>사용자가 LLM을 활용하는 과정에서 보안 프록시가 입력과 출력을 검사한다.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-266700" y="6162675"/>
            <a:ext cx="127254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retendard"/>
              </a:rPr>
              <a:t>목표: LLM 사용을 막는 것이 아니라, 보안 계층을 통해 안전하게 사용한다.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426690"/>
            <a:ext cx="112499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retendard"/>
              </a:rPr>
              <a:t>01 · SCENARIO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82241" y="342900"/>
            <a:ext cx="2550318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retendard"/>
              </a:rPr>
              <a:t>핵심 사용 시나리오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2050" y="3358455"/>
            <a:ext cx="11029950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B45309"/>
                </a:solidFill>
                <a:latin typeface="Pretendard"/>
              </a:rPr>
              <a:t>시나리오 예시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825" y="3691830"/>
            <a:ext cx="10350211" cy="48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1920"/>
              </a:lnSpc>
              <a:defRPr/>
            </a:pPr>
            <a:r>
              <a:rPr sz="1200" b="0" i="0" u="none">
                <a:solidFill>
                  <a:srgbClr val="334155"/>
                </a:solidFill>
                <a:latin typeface="Pretendard"/>
              </a:rPr>
              <a:t>직원이 민원 내용을 요약하려고 LLM에 입력한다. 입력에 전화번호 등 개인정보가 포함되어 있거나, 시스템 지시를 무시하도록 유도하는 악성 프롬프트가 포함되어 있을 수 있다.</a:t>
            </a:r>
            <a:endParaRPr sz="1200" b="0" i="0" u="none">
              <a:solidFill>
                <a:srgbClr val="334155"/>
              </a:solidFill>
              <a:latin typeface="Pretendard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09675" y="1863030"/>
            <a:ext cx="3367087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사용자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825" y="2196405"/>
            <a:ext cx="3690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• 동사무소·행정복지센터 및 사내망 직원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5850" y="1863030"/>
            <a:ext cx="3414712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사용 목적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9625" y="2196405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• 민원 내용 요약 등 업무에 생성형 AI를 안전하게 활용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29650" y="1863030"/>
            <a:ext cx="3414712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주요 위험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3425" y="2196405"/>
            <a:ext cx="3690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• 개인정보 유출 및 프롬프트 인젝션 공격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88590"/>
            <a:ext cx="974526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60290"/>
            <a:ext cx="5372100" cy="1495425"/>
          </a:xfrm>
          <a:prstGeom prst="roundRect">
            <a:avLst>
              <a:gd name="adj" fmla="val 76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560290"/>
            <a:ext cx="5372100" cy="1495425"/>
          </a:xfrm>
          <a:prstGeom prst="roundRect">
            <a:avLst>
              <a:gd name="adj" fmla="val 76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246215"/>
            <a:ext cx="5372100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4246215"/>
            <a:ext cx="5372100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046190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560290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560290"/>
            <a:ext cx="38100" cy="1495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72175" y="2560290"/>
            <a:ext cx="9525" cy="14954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300" y="4046190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0300" y="2560290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0300" y="2560290"/>
            <a:ext cx="38100" cy="1495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572875" y="2560290"/>
            <a:ext cx="9525" cy="14954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5503515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4246215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4246215"/>
            <a:ext cx="38100" cy="12668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72175" y="4246215"/>
            <a:ext cx="9525" cy="12668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0300" y="5503515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0300" y="4246215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0300" y="4246215"/>
            <a:ext cx="38100" cy="12668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572875" y="4246215"/>
            <a:ext cx="9525" cy="12668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17465"/>
            <a:ext cx="180975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817465"/>
            <a:ext cx="228600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03390"/>
            <a:ext cx="228600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4503390"/>
            <a:ext cx="200025" cy="1809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086975" y="426690"/>
            <a:ext cx="1869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retendard"/>
              </a:rPr>
              <a:t>TEAM PRIVACY GUARD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2131665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Pretendard"/>
              </a:rPr>
              <a:t>가치 검증에 반드시 필요한 핵심 보안 프록시 기능 목록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900" y="426690"/>
            <a:ext cx="84117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retendard"/>
              </a:rPr>
              <a:t>02 · MUST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8426" y="342900"/>
            <a:ext cx="376297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retendard"/>
              </a:rPr>
              <a:t>Must 기능 (필수 요구사항)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90625" y="2798415"/>
            <a:ext cx="5712618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1. 입력 사전 검사 &amp; 차단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131790"/>
            <a:ext cx="48863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• PII는 패턴 탐지, 인젝션은 규칙·경량 분류로 보완</a:t>
            </a:r>
            <a:r>
              <a:t>
</a:t>
            </a:r>
            <a:r>
              <a:rPr b="0" sz="1125" i="0" u="none">
                <a:solidFill>
                  <a:srgbClr val="334155"/>
                </a:solidFill>
                <a:latin typeface="Pretendard"/>
              </a:rPr>
              <a:t> • 악성 프롬프트 인젝션 시도 탐지 시 </a:t>
            </a:r>
            <a:r>
              <a:rPr b="1" sz="1125" i="0" u="none">
                <a:solidFill>
                  <a:srgbClr val="0F172A"/>
                </a:solidFill>
                <a:latin typeface="Pretendard"/>
              </a:rPr>
              <a:t>BLOCK</a:t>
            </a:r>
            <a:r>
              <a:t>
</a:t>
            </a:r>
            <a:r>
              <a:rPr b="0" sz="1125" i="0" u="none">
                <a:solidFill>
                  <a:srgbClr val="334155"/>
                </a:solidFill>
                <a:latin typeface="Pretendard"/>
              </a:rPr>
              <a:t> • 차단 시 LLM 호출 없이 사용자 경고 응답 반환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8950" y="2798415"/>
            <a:ext cx="5353050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2. 개인정보 자동 마스킹 (MASK)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5100" y="3131790"/>
            <a:ext cx="48863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• 식별된 개인정보를 마스킹 패턴으로 치환</a:t>
            </a:r>
            <a:r>
              <a:t>
</a:t>
            </a:r>
            <a:r>
              <a:rPr b="0" sz="1125" i="0" u="none">
                <a:solidFill>
                  <a:srgbClr val="334155"/>
                </a:solidFill>
                <a:latin typeface="Pretendard"/>
              </a:rPr>
              <a:t> • 탐지한 PII를 마스킹한 입력을 업스트림 전달</a:t>
            </a:r>
            <a:r>
              <a:t>
</a:t>
            </a:r>
            <a:r>
              <a:rPr b="0" sz="1125" i="0" u="none">
                <a:solidFill>
                  <a:srgbClr val="334155"/>
                </a:solidFill>
                <a:latin typeface="Pretendard"/>
              </a:rPr>
              <a:t> • 미탐지 개인정보의 유출 위험은 남음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8250" y="4484340"/>
            <a:ext cx="5664993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3. SSE 응답 버퍼링·출력 검증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817715"/>
            <a:ext cx="48863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• LLM 응답 전체를 버퍼링한 뒤 SSE로 반환</a:t>
            </a:r>
            <a:r>
              <a:t>
</a:t>
            </a:r>
            <a:r>
              <a:rPr b="0" sz="1125" i="0" u="none">
                <a:solidFill>
                  <a:srgbClr val="334155"/>
                </a:solidFill>
                <a:latin typeface="Pretendard"/>
              </a:rPr>
              <a:t> • 생성 완료 후 Validator 검사, 실시간 토큰 검증 아님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0375" y="4484340"/>
            <a:ext cx="5381625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4. 감사 로그 무결성 검증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5100" y="4817715"/>
            <a:ext cx="48863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• 원문 미저장, 판정·사유 코드 등 메타데이터 기록</a:t>
            </a:r>
            <a:r>
              <a:t>
</a:t>
            </a:r>
            <a:r>
              <a:rPr b="0" sz="1125" i="0" u="none">
                <a:solidFill>
                  <a:srgbClr val="334155"/>
                </a:solidFill>
                <a:latin typeface="Pretendard"/>
              </a:rPr>
              <a:t> • ML-DSA 교체 가능한 감사 로그 서명 인터페이스와
   Mock signer 기반 검증 구조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48930"/>
            <a:ext cx="10972800" cy="3128069"/>
          </a:xfrm>
          <a:prstGeom prst="roundRect">
            <a:avLst>
              <a:gd name="adj" fmla="val 365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88590"/>
            <a:ext cx="1140172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596330"/>
            <a:ext cx="35052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1596330"/>
            <a:ext cx="35052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1596330"/>
            <a:ext cx="35052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11080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596330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596330"/>
            <a:ext cx="9525" cy="1524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05275" y="1596330"/>
            <a:ext cx="9525" cy="1524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311080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96330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96330"/>
            <a:ext cx="9525" cy="1524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39075" y="1596330"/>
            <a:ext cx="9525" cy="1524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311080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7200" y="1596330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7200" y="1596330"/>
            <a:ext cx="9525" cy="1524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572875" y="1596330"/>
            <a:ext cx="9525" cy="1524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606105"/>
            <a:ext cx="161925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1882080"/>
            <a:ext cx="180975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25" y="1882080"/>
            <a:ext cx="180975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425" y="1882080"/>
            <a:ext cx="180975" cy="1809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086975" y="426690"/>
            <a:ext cx="1869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retendard"/>
              </a:rPr>
              <a:t>TEAM PRIVACY GUARD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1167705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Pretendard"/>
              </a:rPr>
              <a:t>제품 사용 및 운영에 중요하나 대체 가능 또는 2차 구현 가능한 기능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426690"/>
            <a:ext cx="100682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retendard"/>
              </a:rPr>
              <a:t>03 · SHOULD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64072" y="342900"/>
            <a:ext cx="3462932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retendard"/>
              </a:rPr>
              <a:t>Should 기능 (우선 구현)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587055"/>
            <a:ext cx="11049000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15803D"/>
                </a:solidFill>
                <a:latin typeface="Pretendard"/>
              </a:rPr>
              <a:t>범위 명확화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825" y="3920430"/>
            <a:ext cx="113061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우선순위와 구현 상태는 구분한다. 관리자 조회와 WARN 확인은 구현됐으며, 조직별 정책 편집은 향후 확장 범위다.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2050" y="1863030"/>
            <a:ext cx="3414712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대시보드 시각화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825" y="2196405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• 구현: 관리자 화면에서 차단·마스킹 집계 조회</a:t>
            </a:r>
            <a:r>
              <a:t>
</a:t>
            </a:r>
            <a:r>
              <a:rPr b="0" sz="1125" i="0" u="none">
                <a:solidFill>
                  <a:srgbClr val="334155"/>
                </a:solidFill>
                <a:latin typeface="Pretendard"/>
              </a:rPr>
              <a:t> • 실시간 갱신·추가 그래프는 개선 검토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5850" y="1863030"/>
            <a:ext cx="3414712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WARN 정책 지원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9625" y="2196405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• 구현: 사전 분석 WARN 시 확인·취소 제공</a:t>
            </a:r>
            <a:r>
              <a:t>
</a:t>
            </a:r>
            <a:r>
              <a:rPr b="0" sz="1125" i="0" u="none">
                <a:solidFill>
                  <a:srgbClr val="334155"/>
                </a:solidFill>
                <a:latin typeface="Pretendard"/>
              </a:rPr>
              <a:t> • 확인 후에도 서버 재검사·마스킹·BLOCK 유지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29650" y="1863030"/>
            <a:ext cx="3414712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조직별 정책 설정 (향후)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3425" y="2196405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• 미구현: 부서/그룹별 탐지 민감도 차등 적용</a:t>
            </a:r>
            <a:r>
              <a:t>
</a:t>
            </a:r>
            <a:r>
              <a:rPr b="0" sz="1125" i="0" u="none">
                <a:solidFill>
                  <a:srgbClr val="334155"/>
                </a:solidFill>
                <a:latin typeface="Pretendard"/>
              </a:rPr>
              <a:t> • 미구현: 관리자 커스텀 키워드 추가/삭제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88590"/>
            <a:ext cx="1829544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10891"/>
            <a:ext cx="5372100" cy="1325760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610891"/>
            <a:ext cx="5372100" cy="1325760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165252"/>
            <a:ext cx="5372100" cy="1325760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4165252"/>
            <a:ext cx="5372100" cy="1325760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882354"/>
            <a:ext cx="140791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882354"/>
            <a:ext cx="140791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436715"/>
            <a:ext cx="140791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4436715"/>
            <a:ext cx="140791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61078" y="426690"/>
            <a:ext cx="190165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retendard"/>
              </a:rPr>
              <a:t>TEAM PRIVACY 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153691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Pretendard"/>
              </a:rPr>
              <a:t>성능 목표와 현재 구현을 구분하며 목표의 타당성을 멘토링에서 확인한다.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426690"/>
            <a:ext cx="169619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retendard"/>
              </a:rPr>
              <a:t>04 · NON-FUNCTIONAL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3444" y="342900"/>
            <a:ext cx="2547584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retendard"/>
              </a:rPr>
              <a:t>비기능 요구사항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1866" y="2849016"/>
            <a:ext cx="5788521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응답 지연 최소화 (Latency)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210966"/>
            <a:ext cx="49149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Pretendard"/>
              </a:rPr>
              <a:t>• 목표 후보: 검사 오버헤드 </a:t>
            </a:r>
            <a:r>
              <a:rPr b="1" sz="1200" i="0" u="none">
                <a:solidFill>
                  <a:srgbClr val="0F172A"/>
                </a:solidFill>
                <a:latin typeface="Pretendard"/>
              </a:rPr>
              <a:t>평균 50ms 이내</a:t>
            </a:r>
            <a:r>
              <a:rPr b="0" sz="1200" i="0" u="none">
                <a:solidFill>
                  <a:srgbClr val="334155"/>
                </a:solidFill>
                <a:latin typeface="Pretendard"/>
              </a:rPr>
              <a:t> (미검증)</a:t>
            </a:r>
            <a:r>
              <a:t>
</a:t>
            </a:r>
            <a:r>
              <a:rPr b="0" sz="1200" i="0" u="none">
                <a:solidFill>
                  <a:srgbClr val="334155"/>
                </a:solidFill>
                <a:latin typeface="Pretendard"/>
              </a:rPr>
              <a:t> • 검사 범위·환경·부하 조건 합의 후 측정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2566" y="2849016"/>
            <a:ext cx="5469433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개인정보 보호 (Privacy)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3210966"/>
            <a:ext cx="49149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Pretendard"/>
              </a:rPr>
              <a:t>• 감사 로그에 </a:t>
            </a:r>
            <a:r>
              <a:rPr b="1" sz="1200" i="0" u="none">
                <a:solidFill>
                  <a:srgbClr val="0F172A"/>
                </a:solidFill>
                <a:latin typeface="Pretendard"/>
              </a:rPr>
              <a:t>입력·응답·개인정보 원문 미저장</a:t>
            </a:r>
            <a:r>
              <a:t>
</a:t>
            </a:r>
            <a:r>
              <a:rPr b="0" sz="1200" i="0" u="none">
                <a:solidFill>
                  <a:srgbClr val="334155"/>
                </a:solidFill>
                <a:latin typeface="Pretendard"/>
              </a:rPr>
              <a:t> • 메타데이터 및 차단 사유 코드만 로그 기록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1866" y="4403377"/>
            <a:ext cx="5788521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시스템 안정성 (Reliability)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4765327"/>
            <a:ext cx="49149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Pretendard"/>
              </a:rPr>
              <a:t>• 목표 후보: 동시 요청 100건 세션 유지 (미검증)</a:t>
            </a:r>
            <a:r>
              <a:t>
</a:t>
            </a:r>
            <a:r>
              <a:rPr b="0" sz="1200" i="0" u="none">
                <a:solidFill>
                  <a:srgbClr val="334155"/>
                </a:solidFill>
                <a:latin typeface="Pretendard"/>
              </a:rPr>
              <a:t> • LLM 장애 시 프록시 단 예외 처리 응답 반환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2566" y="4403377"/>
            <a:ext cx="5469433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감사 무결성 (Integrity)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525" y="4765327"/>
            <a:ext cx="49149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Pretendard"/>
              </a:rPr>
              <a:t>• 레코드별 해시·Mock 서명 생성, 체인 미구현</a:t>
            </a:r>
            <a:r>
              <a:t>
</a:t>
            </a:r>
            <a:r>
              <a:rPr b="0" sz="1200" i="0" u="none">
                <a:solidFill>
                  <a:srgbClr val="334155"/>
                </a:solidFill>
                <a:latin typeface="Pretendard"/>
              </a:rPr>
              <a:t> • 검증 실행 시 변조 확인, 실시간 감시 아님</a:t>
            </a: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091880"/>
            <a:ext cx="10972800" cy="2385119"/>
          </a:xfrm>
          <a:prstGeom prst="roundRect">
            <a:avLst>
              <a:gd name="adj" fmla="val 479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88590"/>
            <a:ext cx="1404937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596330"/>
            <a:ext cx="53721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1596330"/>
            <a:ext cx="53721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2825055"/>
            <a:ext cx="53721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0300" y="2825055"/>
            <a:ext cx="53721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53500" y="2177355"/>
            <a:ext cx="1829097" cy="209550"/>
          </a:xfrm>
          <a:prstGeom prst="roundRect">
            <a:avLst>
              <a:gd name="adj" fmla="val 1818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Rounded Rectangle 8"/>
          <p:cNvSpPr/>
          <p:nvPr/>
        </p:nvSpPr>
        <p:spPr>
          <a:xfrm>
            <a:off x="9153525" y="3406080"/>
            <a:ext cx="1057572" cy="209550"/>
          </a:xfrm>
          <a:prstGeom prst="roundRect">
            <a:avLst>
              <a:gd name="adj" fmla="val 1818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4344292"/>
            <a:ext cx="1333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1853505"/>
            <a:ext cx="2286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1853505"/>
            <a:ext cx="180975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3082230"/>
            <a:ext cx="180975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3082230"/>
            <a:ext cx="133350" cy="1809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86975" y="426690"/>
            <a:ext cx="1869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retendard"/>
              </a:rPr>
              <a:t>TEAM PRIVACY 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167705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Pretendard"/>
              </a:rPr>
              <a:t>기능이 실제로 동작하는지 확인할 수 있는 관찰 가능한 기준으로 작성한다.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426690"/>
            <a:ext cx="12715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retendard"/>
              </a:rPr>
              <a:t>05 ·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8837" y="342900"/>
            <a:ext cx="2175271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retendard"/>
              </a:rPr>
              <a:t>기능별 완료조건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4425" y="4330005"/>
            <a:ext cx="1107757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15803D"/>
                </a:solidFill>
                <a:latin typeface="Pretendard"/>
              </a:rPr>
              <a:t>완료 기준·멘토 확인 질문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4644330"/>
            <a:ext cx="113061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334155"/>
                </a:solidFill>
                <a:latin typeface="Pretendard"/>
              </a:rPr>
              <a:t>네 가지 테스트 결과를 화면 또는 로그로 확인하고 증빙을 남긴다.
멘토 확인: MVP 범위의 적절성, 성능 목표의 타당성, 다음 개발 우선순위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9675" y="1834455"/>
            <a:ext cx="5700712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개인정보 마스킹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2167830"/>
            <a:ext cx="6024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전화번호가 포함된 입력에서 마스킹된 값이 전달되는가?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2750" y="1834455"/>
            <a:ext cx="5429250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인젝션 차단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6524" y="2167830"/>
            <a:ext cx="240982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1800"/>
              </a:lnSpc>
              <a:defRPr/>
            </a:pPr>
            <a:r>
              <a:rPr sz="1125" b="0" i="0" u="none">
                <a:solidFill>
                  <a:srgbClr val="334155"/>
                </a:solidFill>
                <a:latin typeface="Pretendard"/>
              </a:rPr>
              <a:t>차단 시 LLM 미호출 확인</a:t>
            </a:r>
            <a:endParaRPr sz="1125" b="0" i="0" u="none">
              <a:solidFill>
                <a:srgbClr val="334155"/>
              </a:solidFill>
              <a:latin typeface="Pretendar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62050" y="3063180"/>
            <a:ext cx="5748337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정상 요청 처리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825" y="3396555"/>
            <a:ext cx="6024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정상 입력이 LLM에 전달되고 응답이 반환되는가?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5125" y="3063180"/>
            <a:ext cx="5476875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감사 로그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6524" y="3396555"/>
            <a:ext cx="2371912" cy="2229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1800"/>
              </a:lnSpc>
              <a:defRPr/>
            </a:pPr>
            <a:r>
              <a:rPr sz="1125" b="0" i="0" u="none">
                <a:solidFill>
                  <a:srgbClr val="334155"/>
                </a:solidFill>
                <a:latin typeface="Pretendard"/>
              </a:rPr>
              <a:t>원문 미저장·처리 사유 기록 확인</a:t>
            </a:r>
            <a:endParaRPr sz="1125" b="0" i="0" u="none">
              <a:solidFill>
                <a:srgbClr val="334155"/>
              </a:solidFill>
              <a:latin typeface="Pretendard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182100" y="2196405"/>
            <a:ext cx="217207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lvl="0" algn="l">
              <a:lnSpc>
                <a:spcPts val="1800"/>
              </a:lnSpc>
              <a:defRPr/>
            </a:pPr>
            <a:r>
              <a:rPr sz="1125" b="0" i="0" u="none">
                <a:solidFill>
                  <a:srgbClr val="334155"/>
                </a:solidFill>
                <a:latin typeface="monospace"/>
              </a:rPr>
              <a:t>upstream_call: false</a:t>
            </a:r>
            <a:endParaRPr sz="1125" b="0" i="0" u="none">
              <a:solidFill>
                <a:srgbClr val="334155"/>
              </a:solidFill>
              <a:latin typeface="monospace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286875" y="3425130"/>
            <a:ext cx="122902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lvl="0" algn="l">
              <a:lnSpc>
                <a:spcPts val="1800"/>
              </a:lnSpc>
              <a:defRPr/>
            </a:pPr>
            <a:r>
              <a:rPr sz="1125" b="0" i="0" u="none">
                <a:solidFill>
                  <a:srgbClr val="334155"/>
                </a:solidFill>
                <a:latin typeface="monospace"/>
              </a:rPr>
              <a:t>reason_code</a:t>
            </a:r>
            <a:endParaRPr sz="1125" b="0" i="0" u="none">
              <a:solidFill>
                <a:srgbClr val="334155"/>
              </a:solidFill>
              <a:latin typeface="monospace"/>
            </a:endParaRP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468</ep:Words>
  <ep:PresentationFormat>On-screen Show (4:3)</ep:PresentationFormat>
  <ep:Paragraphs>151</ep:Paragraphs>
  <ep:Slides>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유수정</cp:lastModifiedBy>
  <dcterms:modified xsi:type="dcterms:W3CDTF">2026-10-13T12:03:47.690</dcterms:modified>
  <cp:revision>5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